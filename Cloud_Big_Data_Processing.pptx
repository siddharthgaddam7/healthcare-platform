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C3E50"/>
                </a:solidFill>
                <a:latin typeface="Arial"/>
              </a:rPr>
              <a:t>Global Cloud Big Data Market (USD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Billion)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77B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162</c:v>
                </c:pt>
                <c:pt idx="1">
                  <c:v>198</c:v>
                </c:pt>
                <c:pt idx="2">
                  <c:v>241</c:v>
                </c:pt>
                <c:pt idx="3">
                  <c:v>291</c:v>
                </c:pt>
                <c:pt idx="4">
                  <c:v>350</c:v>
                </c:pt>
                <c:pt idx="5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77B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0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658368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316736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975104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2633472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3291840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3950208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4608576"/>
            <a:ext cx="310896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1828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3408" y="0"/>
            <a:ext cx="1828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0"/>
            <a:ext cx="1828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0"/>
            <a:ext cx="1828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0"/>
            <a:ext cx="18288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1828800" cy="13716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43200"/>
            <a:ext cx="1097280" cy="10972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74320" y="7315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274320" y="128016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6400" dirty="0"/>
          </a:p>
        </p:txBody>
      </p:sp>
      <p:sp>
        <p:nvSpPr>
          <p:cNvPr id="22" name="Text 18"/>
          <p:cNvSpPr/>
          <p:nvPr/>
        </p:nvSpPr>
        <p:spPr>
          <a:xfrm>
            <a:off x="274320" y="21945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274320" y="31089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 · Real-Time Analytics · Intelligent Insights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Technology Series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BIG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refers to datasets so large, fast, or complex that traditional processing tools cannot handle them. The cloud transforms how organizations capture, store, and extract value from this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572768" cy="1645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68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Petabytes to exabytes of data generated daily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2423160"/>
            <a:ext cx="157276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76272" y="2468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76272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from billions of devices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95344" y="2423160"/>
            <a:ext cx="1572768" cy="16459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2468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95344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semi-structured &amp; unstructured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2423160"/>
            <a:ext cx="1572768" cy="1645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14416" y="2468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14416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quality, accuracy, and trust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3488" y="2423160"/>
            <a:ext cx="1572768" cy="16459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33488" y="24688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actionable insights for decisions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1097280"/>
            <a:ext cx="292608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0972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quintillion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52160" y="1645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of data created every day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FOR BIG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61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Scalability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compute and storage on demand — handle any workload size without over-provisioning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261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9184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models eliminate capital expenditure and reduce operational overhead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261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multiple regions instantly with low-latency access for distributed teams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182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657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infrastructure management to focus on analytics and business outcomes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301752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182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2918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redundancy, automatic failover, and SLA-backed uptime guarantees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017520"/>
            <a:ext cx="2743200" cy="1691640"/>
          </a:xfrm>
          <a:prstGeom prst="rect">
            <a:avLst/>
          </a:prstGeom>
          <a:solidFill>
            <a:srgbClr val="12204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00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182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Speed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access AI, ML, and advanced analytics services via APIs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BIG DATA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365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 ·  Social Media  ·  Enterprise Apps  ·  Log Files  ·  APIs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" cy="914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37360"/>
            <a:ext cx="859536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737360"/>
            <a:ext cx="365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737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·  AWS Kinesis  ·  Azure Event Hubs  ·  Google Pub/Sub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6576" cy="914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68880"/>
            <a:ext cx="859536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2468880"/>
            <a:ext cx="365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(S3, ADLS)  ·  NoSQL (DynamoDB, CosmosDB)  ·  Cloud DWH (BigQuery, Redshift)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108960"/>
            <a:ext cx="36576" cy="914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00400"/>
            <a:ext cx="8595360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3200400"/>
            <a:ext cx="365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·  Databricks  ·  Flink  ·  Dataflow  ·  HDInsight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840480"/>
            <a:ext cx="36576" cy="9144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Visualization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03120" y="3931920"/>
            <a:ext cx="365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·  Power BI  ·  Looker  ·  Custom Dashboards  ·  ML/AI Models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&amp;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200400"/>
          </a:xfrm>
          <a:prstGeom prst="rect">
            <a:avLst/>
          </a:prstGeom>
          <a:solidFill>
            <a:srgbClr val="12204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Scalable object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— Managed Hadoop/Spark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— Cloud data warehouse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— Serverless ETL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— Query data in S3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— Real-time streaming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743200" cy="32004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 — Scalable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HDInsight — Open-source analytics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Analytics — Unified workspace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 — Data streaming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— ETL pipelines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Spark on Azure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743200" cy="3200400"/>
          </a:xfrm>
          <a:prstGeom prst="rect">
            <a:avLst/>
          </a:prstGeom>
          <a:solidFill>
            <a:srgbClr val="122040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0876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— Serverless DWH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— Streaming &amp; batch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— Managed Hadoop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— Messaging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— Object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— ML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MARKET GROWTH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7432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1247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3504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2021–2026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057400"/>
            <a:ext cx="27432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3504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2026 market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017520"/>
            <a:ext cx="27432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044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350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use cloud for Big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977640"/>
            <a:ext cx="27432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4005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35040" y="4389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insight generation vs. on-prem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PARADIGMS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high-volume processing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Spark, Hadoop MapReduce, AWS Glue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for large volumes; simpler error handling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latency; not suitable for real-time needs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financial reports, ETL pipelines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122040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536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continuous data flows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Kafka, Apache Flink, AWS Kinesis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633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insights; event-driven architecture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state management; higher cost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IoT monitoring, live dashboards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2743200" cy="3657600"/>
          </a:xfrm>
          <a:prstGeom prst="rect">
            <a:avLst/>
          </a:prstGeom>
          <a:solidFill>
            <a:srgbClr val="12204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Architecture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1536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batch accuracy + real-time speed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Kafka + Serving Layer (HBase/Cassandra)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2633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worlds; fault tolerant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dual codebase to maintain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3730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recommendations, ad targeting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GOVERNANCE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1887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optional — it is foundational. Cloud big data environments must enforce layered security controls and governance frameworks to ensure compliance and trust.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377440"/>
            <a:ext cx="54864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414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70662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rest: AES-256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transit: TLS 1.3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with HSM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377440"/>
            <a:ext cx="54864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2414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270662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(ABAC)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657600"/>
            <a:ext cx="54864" cy="11430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694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398678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HIPAA, SOX, CCPA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audit trails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policies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657600"/>
            <a:ext cx="54864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694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398678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cataloging &amp; lineage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Atlas / AWS Glue Catalog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538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analytics, genomics research, predictive diagnostics using cloud ML models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441448"/>
            <a:ext cx="2560320" cy="3108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41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30% faster diagnosis cycles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4538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detection, algorithmic trading, risk modeling across global markets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441448"/>
            <a:ext cx="2560320" cy="3108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441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Fraud losses cut by 40%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45389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personalized recommendations, supply chain optimization at scale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441448"/>
            <a:ext cx="2560320" cy="31089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441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15% revenue increase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457B9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17520"/>
            <a:ext cx="274320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4198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quality control using IoT sensor streams and edge analytics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407408"/>
            <a:ext cx="2560320" cy="310896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0740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Equipment downtime −25%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17520"/>
            <a:ext cx="2743200" cy="3657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4198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 engines, real-time viewership analytics, ad targeting at scale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4407408"/>
            <a:ext cx="2560320" cy="31089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40740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Engagement up 2.4x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743200" cy="1828800"/>
          </a:xfrm>
          <a:prstGeom prst="rect">
            <a:avLst/>
          </a:prstGeom>
          <a:solidFill>
            <a:srgbClr val="12204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274320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4198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management, energy optimization, emergency response powered by live data streams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4407408"/>
            <a:ext cx="2560320" cy="3108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40740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use down 20%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and integration complexity across hybrid environments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unpredictable cloud costs at scale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issues with high-throughput real-time pipelines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quality, consistency, and completeness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gap in cloud-native big data engineering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with proprietary managed services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cloud-agnostic data platform (Apache Iceberg, Delta Lake)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FinOps practices with auto-scaling and spot instances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eventual consistency; use CQRS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data quality pipelines and automated testing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CoE (Center of Excellence) for cloud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infrastructure-as-code (Terraform) for reproducibility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73152" cy="3657600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94360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88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Data Platforms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6245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platforms deeply integrate ML/AI for automated data prep, anomaly detection, and predictive analytics — all powered by LLMs.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859536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37944"/>
            <a:ext cx="594360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37944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data ownership where domain teams manage their own data products, federated by centralized governance policies.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859536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24328"/>
            <a:ext cx="594360" cy="69494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24328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60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Edge-to-Cloud Continuum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at the edge (IoT, 5G) feeds into cloud analytics — reducing bandwidth costs and enabling ultra-low-latency responses.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10712"/>
            <a:ext cx="859536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594360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47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21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auto-scaling query engines (BigQuery, Athena) that charge per query — no cluster management required.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8595360" cy="694944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97096"/>
            <a:ext cx="594360" cy="69494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97096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33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 Inference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5079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ML models deployed on feature stores deliver real-time scoring at the point of data ingestion.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Big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345"/>
          </a:solidFill>
          <a:ln w="12700">
            <a:solidFill>
              <a:srgbClr val="0D23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658368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316736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975104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2633472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291840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3950208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608576"/>
            <a:ext cx="2926080" cy="182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43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400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Cloud-Native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5760" y="205740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provides the elastic, cost-effective foundation for Big Data at any scale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processing paradigm (batch vs. stream) is mission-critical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governance must be built in, not bolted 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integration will define the next generation of data platforms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business outcomes, then architect backwards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731520"/>
            <a:ext cx="1828800" cy="13716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603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Big Data Processing</dc:title>
  <dc:subject>PptxGenJS Presentation</dc:subject>
  <dc:creator>PptxGenJS</dc:creator>
  <cp:lastModifiedBy>PptxGenJS</cp:lastModifiedBy>
  <cp:revision>1</cp:revision>
  <dcterms:created xsi:type="dcterms:W3CDTF">2026-03-06T03:31:18Z</dcterms:created>
  <dcterms:modified xsi:type="dcterms:W3CDTF">2026-03-06T03:31:18Z</dcterms:modified>
</cp:coreProperties>
</file>