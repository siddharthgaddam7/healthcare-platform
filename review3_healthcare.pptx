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308" r:id="rId2"/>
    <p:sldId id="309" r:id="rId3"/>
    <p:sldId id="310" r:id="rId4"/>
    <p:sldId id="320" r:id="rId5"/>
    <p:sldId id="315" r:id="rId6"/>
    <p:sldId id="317" r:id="rId7"/>
    <p:sldId id="318" r:id="rId8"/>
    <p:sldId id="319" r:id="rId9"/>
    <p:sldId id="256" r:id="rId10"/>
    <p:sldId id="257" r:id="rId11"/>
  </p:sldIdLst>
  <p:sldSz cx="12192000" cy="6858000"/>
  <p:notesSz cx="6858000" cy="9144000"/>
  <p:embeddedFontLst>
    <p:embeddedFont>
      <p:font typeface="Bookman Old Style" panose="02050604050505020204" pitchFamily="18" charset="0"/>
      <p:regular r:id="rId13"/>
      <p:bold r:id="rId14"/>
      <p:italic r:id="rId15"/>
      <p:boldItalic r:id="rId16"/>
    </p:embeddedFont>
    <p:embeddedFont>
      <p:font typeface="Libre Franklin" pitchFamily="2" charset="0"/>
      <p:regular r:id="rId17"/>
      <p:bold r:id="rId18"/>
      <p:italic r:id="rId19"/>
      <p:boldItalic r:id="rId20"/>
    </p:embeddedFont>
    <p:embeddedFont>
      <p:font typeface="Palatino Linotype" panose="02040502050505030304" pitchFamily="18" charset="0"/>
      <p:regular r:id="rId21"/>
      <p:bold r:id="rId22"/>
      <p:italic r:id="rId23"/>
      <p:boldItalic r:id="rId24"/>
    </p:embeddedFont>
    <p:embeddedFont>
      <p:font typeface="Sitka Heading"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778DF5BD-9EAD-4894-8A55-09384F11621E}">
          <p14:sldIdLst>
            <p14:sldId id="308"/>
            <p14:sldId id="309"/>
            <p14:sldId id="310"/>
          </p14:sldIdLst>
        </p14:section>
        <p14:section name="Untitled Section" id="{490E49C7-E4C0-4D1B-ADC4-CFAA635D184A}">
          <p14:sldIdLst>
            <p14:sldId id="320"/>
            <p14:sldId id="315"/>
            <p14:sldId id="317"/>
            <p14:sldId id="318"/>
            <p14:sldId id="319"/>
            <p14:sldId id="256"/>
            <p14:sldId id="25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66" d="100"/>
          <a:sy n="66" d="100"/>
        </p:scale>
        <p:origin x="48" y="10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rgbClr val="000000"/>
                </a:buClr>
                <a:buSzPts val="1200"/>
                <a:buFont typeface="Arial" panose="020B0604020202020204"/>
                <a:buNone/>
              </a:p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4316115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435C7263-08F1-4028-5E9C-06676A147F8C}"/>
            </a:ext>
          </a:extLst>
        </p:cNvPr>
        <p:cNvGrpSpPr/>
        <p:nvPr/>
      </p:nvGrpSpPr>
      <p:grpSpPr>
        <a:xfrm>
          <a:off x="0" y="0"/>
          <a:ext cx="0" cy="0"/>
          <a:chOff x="0" y="0"/>
          <a:chExt cx="0" cy="0"/>
        </a:xfrm>
      </p:grpSpPr>
      <p:sp>
        <p:nvSpPr>
          <p:cNvPr id="95" name="Google Shape;95;p1:notes">
            <a:extLst>
              <a:ext uri="{FF2B5EF4-FFF2-40B4-BE49-F238E27FC236}">
                <a16:creationId xmlns:a16="http://schemas.microsoft.com/office/drawing/2014/main" id="{5BCAB8A0-CC08-91B1-74CF-82C652CB40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1:notes">
            <a:extLst>
              <a:ext uri="{FF2B5EF4-FFF2-40B4-BE49-F238E27FC236}">
                <a16:creationId xmlns:a16="http://schemas.microsoft.com/office/drawing/2014/main" id="{1586F9BF-D046-7055-A3A2-34458245F2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2561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32" name="Google Shape;32;p4"/>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pPr lvl="0"/>
            <a:r>
              <a:rPr lang="en-US"/>
              <a:t>Click to edit Master text styles</a:t>
            </a:r>
          </a:p>
        </p:txBody>
      </p:sp>
      <p:sp>
        <p:nvSpPr>
          <p:cNvPr id="33" name="Google Shape;33;p4"/>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74" name="Google Shape;74;p10"/>
          <p:cNvSpPr txBox="1">
            <a:spLocks noGrp="1"/>
          </p:cNvSpPr>
          <p:nvPr>
            <p:ph type="body" idx="1"/>
          </p:nvPr>
        </p:nvSpPr>
        <p:spPr>
          <a:xfrm>
            <a:off x="1097280" y="2057400"/>
            <a:ext cx="4639736" cy="736282"/>
          </a:xfrm>
          <a:prstGeom prst="rect">
            <a:avLst/>
          </a:prstGeom>
          <a:noFill/>
          <a:ln>
            <a:noFill/>
          </a:ln>
        </p:spPr>
        <p:txBody>
          <a:bodyPr spcFirstLastPara="1" wrap="square" lIns="91425" tIns="45700" rIns="91425" bIns="45700" anchor="ctr" anchorCtr="0">
            <a:no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pPr lvl="0"/>
            <a:r>
              <a:rPr lang="en-US"/>
              <a:t>Click to edit Master text styles</a:t>
            </a:r>
          </a:p>
        </p:txBody>
      </p:sp>
      <p:sp>
        <p:nvSpPr>
          <p:cNvPr id="75" name="Google Shape;75;p10"/>
          <p:cNvSpPr txBox="1">
            <a:spLocks noGrp="1"/>
          </p:cNvSpPr>
          <p:nvPr>
            <p:ph type="body" idx="2"/>
          </p:nvPr>
        </p:nvSpPr>
        <p:spPr>
          <a:xfrm>
            <a:off x="1097280" y="2958274"/>
            <a:ext cx="4639736" cy="2910821"/>
          </a:xfrm>
          <a:prstGeom prst="rect">
            <a:avLst/>
          </a:prstGeom>
          <a:noFill/>
          <a:ln>
            <a:noFill/>
          </a:ln>
        </p:spPr>
        <p:txBody>
          <a:bodyPr spcFirstLastPara="1" wrap="square" lIns="0" tIns="45700" rIns="0" bIns="45700" anchor="t" anchorCtr="0">
            <a:no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pPr lvl="0"/>
            <a:r>
              <a:rPr lang="en-US"/>
              <a:t>Click to edit Master text styles</a:t>
            </a:r>
          </a:p>
        </p:txBody>
      </p:sp>
      <p:sp>
        <p:nvSpPr>
          <p:cNvPr id="76" name="Google Shape;76;p10"/>
          <p:cNvSpPr txBox="1">
            <a:spLocks noGrp="1"/>
          </p:cNvSpPr>
          <p:nvPr>
            <p:ph type="body" idx="3"/>
          </p:nvPr>
        </p:nvSpPr>
        <p:spPr>
          <a:xfrm>
            <a:off x="6515944" y="2057400"/>
            <a:ext cx="4639736" cy="736282"/>
          </a:xfrm>
          <a:prstGeom prst="rect">
            <a:avLst/>
          </a:prstGeom>
          <a:noFill/>
          <a:ln>
            <a:noFill/>
          </a:ln>
        </p:spPr>
        <p:txBody>
          <a:bodyPr spcFirstLastPara="1" wrap="square" lIns="91425" tIns="45700" rIns="91425" bIns="45700" anchor="ctr" anchorCtr="0">
            <a:no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pPr lvl="0"/>
            <a:r>
              <a:rPr lang="en-US"/>
              <a:t>Click to edit Master text styles</a:t>
            </a:r>
          </a:p>
        </p:txBody>
      </p:sp>
      <p:sp>
        <p:nvSpPr>
          <p:cNvPr id="77" name="Google Shape;77;p10"/>
          <p:cNvSpPr txBox="1">
            <a:spLocks noGrp="1"/>
          </p:cNvSpPr>
          <p:nvPr>
            <p:ph type="body" idx="4"/>
          </p:nvPr>
        </p:nvSpPr>
        <p:spPr>
          <a:xfrm>
            <a:off x="6515944" y="2958273"/>
            <a:ext cx="4639736" cy="2910821"/>
          </a:xfrm>
          <a:prstGeom prst="rect">
            <a:avLst/>
          </a:prstGeom>
          <a:noFill/>
          <a:ln>
            <a:noFill/>
          </a:ln>
        </p:spPr>
        <p:txBody>
          <a:bodyPr spcFirstLastPara="1" wrap="square" lIns="0" tIns="45700" rIns="0" bIns="45700" anchor="t" anchorCtr="0">
            <a:no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pPr lvl="0"/>
            <a:r>
              <a:rPr lang="en-US"/>
              <a:t>Click to edit Master text styles</a:t>
            </a:r>
          </a:p>
        </p:txBody>
      </p:sp>
      <p:sp>
        <p:nvSpPr>
          <p:cNvPr id="78" name="Google Shape;78;p10"/>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83" name="Google Shape;83;p11"/>
          <p:cNvSpPr txBox="1">
            <a:spLocks noGrp="1"/>
          </p:cNvSpPr>
          <p:nvPr>
            <p:ph type="body" idx="1"/>
          </p:nvPr>
        </p:nvSpPr>
        <p:spPr>
          <a:xfrm rot="5400000">
            <a:off x="4246034" y="-1040553"/>
            <a:ext cx="3760891" cy="10058400"/>
          </a:xfrm>
          <a:prstGeom prst="rect">
            <a:avLst/>
          </a:prstGeom>
          <a:noFill/>
          <a:ln>
            <a:noFill/>
          </a:ln>
        </p:spPr>
        <p:txBody>
          <a:bodyPr spcFirstLastPara="1" wrap="square" lIns="45700" tIns="0" rIns="45700" bIns="0" anchor="t" anchorCtr="0">
            <a:no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pPr lvl="0"/>
            <a:r>
              <a:rPr lang="en-US"/>
              <a:t>Click to edit Master text styles</a:t>
            </a:r>
          </a:p>
        </p:txBody>
      </p:sp>
      <p:sp>
        <p:nvSpPr>
          <p:cNvPr id="84" name="Google Shape;84;p1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1"/>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12"/>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 name="Google Shape;89;p12"/>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90" name="Google Shape;90;p12"/>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pPr lvl="0"/>
            <a:r>
              <a:rPr lang="en-US"/>
              <a:t>Click to edit Master text styles</a:t>
            </a:r>
          </a:p>
        </p:txBody>
      </p:sp>
      <p:sp>
        <p:nvSpPr>
          <p:cNvPr id="91" name="Google Shape;91;p1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2"/>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2"/>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l">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3433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3F3F3F"/>
              </a:buClr>
              <a:buSzPts val="4700"/>
              <a:buFont typeface="Bookman Old Style" panose="02050604050505020204"/>
              <a:buNone/>
              <a:defRPr sz="4700" b="0" i="0" u="none" strike="noStrike" cap="none">
                <a:solidFill>
                  <a:srgbClr val="3F3F3F"/>
                </a:solidFill>
                <a:latin typeface="Bookman Old Style" panose="02050604050505020204"/>
                <a:ea typeface="Bookman Old Style" panose="02050604050505020204"/>
                <a:cs typeface="Bookman Old Style" panose="02050604050505020204"/>
                <a:sym typeface="Bookman Old Style" panose="02050604050505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1"/>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Autofit/>
          </a:bodyPr>
          <a:lstStyle>
            <a:lvl1pPr marL="457200" marR="0" lvl="0" indent="-349250" algn="l" rtl="0">
              <a:lnSpc>
                <a:spcPct val="110000"/>
              </a:lnSpc>
              <a:spcBef>
                <a:spcPts val="1200"/>
              </a:spcBef>
              <a:spcAft>
                <a:spcPts val="0"/>
              </a:spcAft>
              <a:buClr>
                <a:schemeClr val="accent1"/>
              </a:buClr>
              <a:buSzPts val="1900"/>
              <a:buFont typeface="Calibri" panose="020F0502020204030204"/>
              <a:buChar char=" "/>
              <a:defRPr sz="19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1pPr>
            <a:lvl2pPr marL="914400" marR="0" lvl="1" indent="-336550" algn="l" rtl="0">
              <a:lnSpc>
                <a:spcPct val="100000"/>
              </a:lnSpc>
              <a:spcBef>
                <a:spcPts val="200"/>
              </a:spcBef>
              <a:spcAft>
                <a:spcPts val="0"/>
              </a:spcAft>
              <a:buClr>
                <a:srgbClr val="3F3F3F"/>
              </a:buClr>
              <a:buSzPts val="1700"/>
              <a:buFont typeface="Calibri" panose="020F0502020204030204"/>
              <a:buChar char="◦"/>
              <a:defRPr sz="17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2pPr>
            <a:lvl3pPr marL="1371600" marR="0" lvl="2" indent="-311150" algn="l" rtl="0">
              <a:lnSpc>
                <a:spcPct val="100000"/>
              </a:lnSpc>
              <a:spcBef>
                <a:spcPts val="400"/>
              </a:spcBef>
              <a:spcAft>
                <a:spcPts val="0"/>
              </a:spcAft>
              <a:buClr>
                <a:srgbClr val="3F3F3F"/>
              </a:buClr>
              <a:buSzPts val="1300"/>
              <a:buFont typeface="Calibri" panose="020F0502020204030204"/>
              <a:buChar char="◦"/>
              <a:defRPr sz="13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3pPr>
            <a:lvl4pPr marL="1828800" marR="0" lvl="3" indent="-311150" algn="l" rtl="0">
              <a:lnSpc>
                <a:spcPct val="100000"/>
              </a:lnSpc>
              <a:spcBef>
                <a:spcPts val="400"/>
              </a:spcBef>
              <a:spcAft>
                <a:spcPts val="0"/>
              </a:spcAft>
              <a:buClr>
                <a:srgbClr val="3F3F3F"/>
              </a:buClr>
              <a:buSzPts val="1300"/>
              <a:buFont typeface="Calibri" panose="020F0502020204030204"/>
              <a:buChar char="◦"/>
              <a:defRPr sz="13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4pPr>
            <a:lvl5pPr marL="2286000" marR="0" lvl="4" indent="-311150" algn="l" rtl="0">
              <a:lnSpc>
                <a:spcPct val="100000"/>
              </a:lnSpc>
              <a:spcBef>
                <a:spcPts val="400"/>
              </a:spcBef>
              <a:spcAft>
                <a:spcPts val="0"/>
              </a:spcAft>
              <a:buClr>
                <a:srgbClr val="3F3F3F"/>
              </a:buClr>
              <a:buSzPts val="1300"/>
              <a:buFont typeface="Calibri" panose="020F0502020204030204"/>
              <a:buChar char="◦"/>
              <a:defRPr sz="13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5pPr>
            <a:lvl6pPr marL="2743200" marR="0" lvl="5"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6pPr>
            <a:lvl7pPr marL="3200400" marR="0" lvl="6"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7pPr>
            <a:lvl8pPr marL="3657600" marR="0" lvl="7"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8pPr>
            <a:lvl9pPr marL="4114800" marR="0" lvl="8" indent="-317500" algn="l" rtl="0">
              <a:lnSpc>
                <a:spcPct val="90000"/>
              </a:lnSpc>
              <a:spcBef>
                <a:spcPts val="400"/>
              </a:spcBef>
              <a:spcAft>
                <a:spcPts val="400"/>
              </a:spcAft>
              <a:buClr>
                <a:schemeClr val="accent1"/>
              </a:buClr>
              <a:buSzPts val="1400"/>
              <a:buFont typeface="Calibri" panose="020F0502020204030204"/>
              <a:buChar char="◦"/>
              <a:defRPr sz="1400" b="0" i="0" u="none" strike="noStrike" cap="none">
                <a:solidFill>
                  <a:srgbClr val="3F3F3F"/>
                </a:solidFill>
                <a:latin typeface="Libre Franklin" panose="00000500000000000000"/>
                <a:ea typeface="Libre Franklin" panose="00000500000000000000"/>
                <a:cs typeface="Libre Franklin" panose="00000500000000000000"/>
                <a:sym typeface="Libre Franklin" panose="00000500000000000000"/>
              </a:defRPr>
            </a:lvl9pPr>
          </a:lstStyle>
          <a:p>
            <a:endParaRPr/>
          </a:p>
        </p:txBody>
      </p:sp>
      <p:sp>
        <p:nvSpPr>
          <p:cNvPr id="13" name="Google Shape;13;p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9pPr>
          </a:lstStyle>
          <a:p>
            <a:endParaRPr/>
          </a:p>
        </p:txBody>
      </p:sp>
      <p:sp>
        <p:nvSpPr>
          <p:cNvPr id="14" name="Google Shape;14;p1"/>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Libre Franklin" panose="00000500000000000000"/>
                <a:ea typeface="Libre Franklin" panose="00000500000000000000"/>
                <a:cs typeface="Libre Franklin" panose="00000500000000000000"/>
                <a:sym typeface="Libre Franklin" panose="00000500000000000000"/>
              </a:defRPr>
            </a:lvl9pPr>
          </a:lstStyle>
          <a:p>
            <a:endParaRPr/>
          </a:p>
        </p:txBody>
      </p:sp>
      <p:sp>
        <p:nvSpPr>
          <p:cNvPr id="15" name="Google Shape;15;p1"/>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l" rtl="0">
              <a:lnSpc>
                <a:spcPct val="100000"/>
              </a:lnSpc>
              <a:spcBef>
                <a:spcPts val="0"/>
              </a:spcBef>
              <a:spcAft>
                <a:spcPts val="0"/>
              </a:spcAft>
              <a:buClr>
                <a:srgbClr val="000000"/>
              </a:buClr>
              <a:buSzPts val="800"/>
              <a:buFont typeface="Arial" panose="020B0604020202020204"/>
              <a:buNone/>
              <a:defRPr sz="800" b="0" i="0" u="none" strike="noStrike" cap="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lang="en-US"/>
          </a:p>
        </p:txBody>
      </p:sp>
      <p:cxnSp>
        <p:nvCxnSpPr>
          <p:cNvPr id="16" name="Google Shape;16;p1"/>
          <p:cNvCxnSpPr/>
          <p:nvPr/>
        </p:nvCxnSpPr>
        <p:spPr>
          <a:xfrm>
            <a:off x="1193532" y="1897380"/>
            <a:ext cx="9966960" cy="0"/>
          </a:xfrm>
          <a:prstGeom prst="straightConnector1">
            <a:avLst/>
          </a:prstGeom>
          <a:noFill/>
          <a:ln w="12700" cap="flat" cmpd="sng">
            <a:solidFill>
              <a:srgbClr val="3F3F3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1" r:id="rId1"/>
    <p:sldLayoutId id="2147483657" r:id="rId2"/>
    <p:sldLayoutId id="2147483658" r:id="rId3"/>
    <p:sldLayoutId id="2147483659" r:id="rId4"/>
    <p:sldLayoutId id="2147483661" r:id="rId5"/>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DA3B568-1152-8830-E6A5-CB8E4DF2ED21}"/>
            </a:ext>
          </a:extLst>
        </p:cNvPr>
        <p:cNvGrpSpPr/>
        <p:nvPr/>
      </p:nvGrpSpPr>
      <p:grpSpPr>
        <a:xfrm>
          <a:off x="0" y="0"/>
          <a:ext cx="0" cy="0"/>
          <a:chOff x="0" y="0"/>
          <a:chExt cx="0" cy="0"/>
        </a:xfrm>
      </p:grpSpPr>
      <p:sp>
        <p:nvSpPr>
          <p:cNvPr id="99" name="Google Shape;99;p13">
            <a:extLst>
              <a:ext uri="{FF2B5EF4-FFF2-40B4-BE49-F238E27FC236}">
                <a16:creationId xmlns:a16="http://schemas.microsoft.com/office/drawing/2014/main" id="{06B0F527-5707-E151-116D-2F732133F7E4}"/>
              </a:ext>
            </a:extLst>
          </p:cNvPr>
          <p:cNvSpPr txBox="1"/>
          <p:nvPr/>
        </p:nvSpPr>
        <p:spPr>
          <a:xfrm>
            <a:off x="119337" y="1914524"/>
            <a:ext cx="11461676" cy="44626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   </a:t>
            </a:r>
          </a:p>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PROJECT</a:t>
            </a:r>
            <a:endParaRPr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On</a:t>
            </a:r>
            <a:endPar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CLINICAL COST INSIGHT</a:t>
            </a:r>
          </a:p>
          <a:p>
            <a:pPr marL="0" marR="0" lvl="0" indent="0" algn="ctr" rtl="0">
              <a:lnSpc>
                <a:spcPct val="100000"/>
              </a:lnSpc>
              <a:spcBef>
                <a:spcPts val="0"/>
              </a:spcBef>
              <a:spcAft>
                <a:spcPts val="0"/>
              </a:spcAft>
              <a:buClr>
                <a:srgbClr val="000000"/>
              </a:buClr>
              <a:buSzPts val="1800"/>
              <a:buFont typeface="Arial" panose="020B0604020202020204"/>
              <a:buNone/>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[REVIEW-3]</a:t>
            </a:r>
          </a:p>
          <a:p>
            <a:pPr marL="0" marR="0" lvl="0" indent="0" algn="ctr" rtl="0">
              <a:lnSpc>
                <a:spcPct val="100000"/>
              </a:lnSpc>
              <a:spcBef>
                <a:spcPts val="0"/>
              </a:spcBef>
              <a:spcAft>
                <a:spcPts val="0"/>
              </a:spcAft>
              <a:buClr>
                <a:srgbClr val="000000"/>
              </a:buClr>
              <a:buSzPts val="24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BACHELOR OF TECHNOLOGY</a:t>
            </a:r>
            <a:endParaRPr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a:t>
            </a:r>
            <a:endParaRPr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COMPUTER SCIENCE AND  ENGINEERING</a:t>
            </a:r>
            <a:endParaRPr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rgbClr val="000000"/>
              </a:buClr>
              <a:buSzPts val="1800"/>
              <a:buFont typeface="Arial" panose="020B0604020202020204"/>
              <a:buNone/>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B.CHAITRA                   23VE1A0506</a:t>
            </a:r>
            <a:endParaRPr lang="en-US" sz="1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ctr" rtl="0">
              <a:lnSpc>
                <a:spcPct val="100000"/>
              </a:lnSpc>
              <a:spcBef>
                <a:spcPts val="0"/>
              </a:spcBef>
              <a:spcAft>
                <a:spcPts val="0"/>
              </a:spcAft>
              <a:buClr>
                <a:srgbClr val="000000"/>
              </a:buClr>
              <a:buSzPts val="1800"/>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G.SIDDHARTH             23VE1A0516              </a:t>
            </a:r>
          </a:p>
          <a:p>
            <a:pPr marL="342900" marR="0" lvl="0" indent="-342900" algn="ctr" rtl="0">
              <a:lnSpc>
                <a:spcPct val="100000"/>
              </a:lnSpc>
              <a:spcBef>
                <a:spcPts val="0"/>
              </a:spcBef>
              <a:spcAft>
                <a:spcPts val="0"/>
              </a:spcAft>
              <a:buClr>
                <a:srgbClr val="000000"/>
              </a:buClr>
              <a:buSzPts val="1800"/>
            </a:pPr>
            <a:r>
              <a:rPr lang="en-IN"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K.GANESH                    23VE1A0529</a:t>
            </a:r>
            <a:endParaRPr lang="en-IN" sz="1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ctr">
              <a:buSzPts val="1800"/>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N.SWETHA                    23VE1A0543</a:t>
            </a:r>
            <a:endParaRPr sz="1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ctr">
              <a:buSzPts val="1800"/>
            </a:pPr>
            <a:endParaRPr lang="en-IN" sz="1600" b="1" dirty="0">
              <a:solidFill>
                <a:schemeClr val="dk1"/>
              </a:solidFill>
              <a:latin typeface="Times New Roman" panose="02020603050405020304"/>
              <a:ea typeface="Libre Franklin" panose="00000500000000000000"/>
              <a:cs typeface="Times New Roman" panose="02020603050405020304"/>
              <a:sym typeface="Times New Roman" panose="02020603050405020304"/>
            </a:endParaRPr>
          </a:p>
          <a:p>
            <a:pPr algn="ctr">
              <a:buSzPts val="1800"/>
            </a:pPr>
            <a:r>
              <a:rPr lang="en-IN" sz="1600" b="1" dirty="0">
                <a:solidFill>
                  <a:schemeClr val="dk1"/>
                </a:solidFill>
                <a:latin typeface="Times New Roman" panose="02020603050405020304"/>
                <a:ea typeface="Libre Franklin" panose="00000500000000000000"/>
                <a:cs typeface="Times New Roman" panose="02020603050405020304"/>
                <a:sym typeface="Times New Roman" panose="02020603050405020304"/>
              </a:rPr>
              <a:t>ACADEMIC BATCH: (2023-2027)</a:t>
            </a:r>
            <a:endParaRPr lang="en-IN" sz="1600" dirty="0">
              <a:solidFill>
                <a:schemeClr val="dk1"/>
              </a:solidFill>
              <a:latin typeface="Libre Franklin" panose="00000500000000000000"/>
              <a:ea typeface="Libre Franklin" panose="00000500000000000000"/>
              <a:cs typeface="Libre Franklin" panose="00000500000000000000"/>
              <a:sym typeface="Libre Franklin" panose="00000500000000000000"/>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6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Under the Guidance of </a:t>
            </a:r>
            <a:endParaRPr lang="en-US"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buSzPts val="1800"/>
            </a:pPr>
            <a:r>
              <a:rPr 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DR.U.M.FERNANDES DIMLO –  professor </a:t>
            </a:r>
            <a:endParaRPr lang="en-US" sz="1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0" name="Google Shape;100;p13">
            <a:extLst>
              <a:ext uri="{FF2B5EF4-FFF2-40B4-BE49-F238E27FC236}">
                <a16:creationId xmlns:a16="http://schemas.microsoft.com/office/drawing/2014/main" id="{231056B3-319D-8786-752E-CD988992963E}"/>
              </a:ext>
            </a:extLst>
          </p:cNvPr>
          <p:cNvSpPr txBox="1"/>
          <p:nvPr/>
        </p:nvSpPr>
        <p:spPr>
          <a:xfrm>
            <a:off x="11703325" y="1596475"/>
            <a:ext cx="488100" cy="560100"/>
          </a:xfrm>
          <a:prstGeom prst="rect">
            <a:avLst/>
          </a:prstGeom>
          <a:solidFill>
            <a:srgbClr val="FFFFF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Libre Franklin" panose="00000500000000000000"/>
              <a:ea typeface="Libre Franklin" panose="00000500000000000000"/>
              <a:cs typeface="Libre Franklin" panose="00000500000000000000"/>
              <a:sym typeface="Libre Franklin" panose="00000500000000000000"/>
            </a:endParaRPr>
          </a:p>
        </p:txBody>
      </p:sp>
      <p:pic>
        <p:nvPicPr>
          <p:cNvPr id="18441" name="Picture 1">
            <a:extLst>
              <a:ext uri="{FF2B5EF4-FFF2-40B4-BE49-F238E27FC236}">
                <a16:creationId xmlns:a16="http://schemas.microsoft.com/office/drawing/2014/main" id="{6D863992-5B3C-5945-6959-2ECFDF7CE384}"/>
              </a:ext>
            </a:extLst>
          </p:cNvPr>
          <p:cNvPicPr>
            <a:picLocks noChangeAspect="1" noChangeArrowheads="1"/>
          </p:cNvPicPr>
          <p:nvPr/>
        </p:nvPicPr>
        <p:blipFill>
          <a:blip r:embed="rId3"/>
          <a:srcRect/>
          <a:stretch>
            <a:fillRect/>
          </a:stretch>
        </p:blipFill>
        <p:spPr bwMode="auto">
          <a:xfrm>
            <a:off x="838200" y="0"/>
            <a:ext cx="1524000" cy="1381125"/>
          </a:xfrm>
          <a:prstGeom prst="rect">
            <a:avLst/>
          </a:prstGeom>
          <a:noFill/>
        </p:spPr>
      </p:pic>
      <p:sp>
        <p:nvSpPr>
          <p:cNvPr id="18440" name="AutoShape 8">
            <a:extLst>
              <a:ext uri="{FF2B5EF4-FFF2-40B4-BE49-F238E27FC236}">
                <a16:creationId xmlns:a16="http://schemas.microsoft.com/office/drawing/2014/main" id="{7C2E305B-9853-5A67-3245-AA4CA4B53732}"/>
              </a:ext>
            </a:extLst>
          </p:cNvPr>
          <p:cNvSpPr>
            <a:spLocks noChangeShapeType="1"/>
          </p:cNvSpPr>
          <p:nvPr/>
        </p:nvSpPr>
        <p:spPr bwMode="auto">
          <a:xfrm>
            <a:off x="0" y="1447800"/>
            <a:ext cx="12192000" cy="45719"/>
          </a:xfrm>
          <a:prstGeom prst="straightConnector1">
            <a:avLst/>
          </a:prstGeom>
          <a:noFill/>
          <a:ln w="19050">
            <a:solidFill>
              <a:srgbClr val="3399FF"/>
            </a:solidFill>
            <a:round/>
            <a:headEnd/>
            <a:tailEnd/>
          </a:ln>
        </p:spPr>
        <p:txBody>
          <a:bodyPr vert="horz" wrap="square" lIns="91440" tIns="45720" rIns="91440" bIns="45720" numCol="1" anchor="t" anchorCtr="0" compatLnSpc="1">
            <a:prstTxWarp prst="textNoShape">
              <a:avLst/>
            </a:prstTxWarp>
          </a:bodyPr>
          <a:lstStyle/>
          <a:p>
            <a:endParaRPr lang="en-US" dirty="0"/>
          </a:p>
          <a:p>
            <a:endParaRPr lang="en-US" dirty="0"/>
          </a:p>
        </p:txBody>
      </p:sp>
      <p:sp>
        <p:nvSpPr>
          <p:cNvPr id="18439" name="AutoShape 7">
            <a:extLst>
              <a:ext uri="{FF2B5EF4-FFF2-40B4-BE49-F238E27FC236}">
                <a16:creationId xmlns:a16="http://schemas.microsoft.com/office/drawing/2014/main" id="{6A813912-1516-B1FA-4549-15A047526D6D}"/>
              </a:ext>
            </a:extLst>
          </p:cNvPr>
          <p:cNvSpPr>
            <a:spLocks noChangeShapeType="1"/>
          </p:cNvSpPr>
          <p:nvPr/>
        </p:nvSpPr>
        <p:spPr bwMode="auto">
          <a:xfrm>
            <a:off x="0" y="1524000"/>
            <a:ext cx="12192000" cy="76200"/>
          </a:xfrm>
          <a:prstGeom prst="straightConnector1">
            <a:avLst/>
          </a:prstGeom>
          <a:noFill/>
          <a:ln w="19050">
            <a:solidFill>
              <a:srgbClr val="E36C0A"/>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42" name="Rectangle 10">
            <a:extLst>
              <a:ext uri="{FF2B5EF4-FFF2-40B4-BE49-F238E27FC236}">
                <a16:creationId xmlns:a16="http://schemas.microsoft.com/office/drawing/2014/main" id="{0DB350C2-C782-61E8-82EB-D963C4E8696B}"/>
              </a:ext>
            </a:extLst>
          </p:cNvPr>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443" name="Rectangle 11">
            <a:extLst>
              <a:ext uri="{FF2B5EF4-FFF2-40B4-BE49-F238E27FC236}">
                <a16:creationId xmlns:a16="http://schemas.microsoft.com/office/drawing/2014/main" id="{8B5D6E2B-5094-6A7A-DAC6-E464AFDB03FE}"/>
              </a:ext>
            </a:extLst>
          </p:cNvPr>
          <p:cNvSpPr>
            <a:spLocks noChangeArrowheads="1"/>
          </p:cNvSpPr>
          <p:nvPr/>
        </p:nvSpPr>
        <p:spPr bwMode="auto">
          <a:xfrm>
            <a:off x="-244337" y="0"/>
            <a:ext cx="12192000" cy="19543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ctr" defTabSz="914400" rtl="0" eaLnBrk="1" fontAlgn="base" latinLnBrk="0" hangingPunct="1">
              <a:lnSpc>
                <a:spcPct val="100000"/>
              </a:lnSpc>
              <a:spcBef>
                <a:spcPct val="0"/>
              </a:spcBef>
              <a:spcAft>
                <a:spcPct val="0"/>
              </a:spcAft>
              <a:buClrTx/>
              <a:buSzTx/>
              <a:buFontTx/>
              <a:buNone/>
              <a:tabLst>
                <a:tab pos="2865438" algn="ctr"/>
                <a:tab pos="5730875" algn="r"/>
              </a:tabLst>
            </a:pPr>
            <a:r>
              <a:rPr kumimoji="0" lang="en-US" sz="1300" b="1" i="0" u="none" strike="noStrike" cap="none" normalizeH="0" baseline="0" dirty="0">
                <a:ln>
                  <a:noFill/>
                </a:ln>
                <a:solidFill>
                  <a:srgbClr val="0070C0"/>
                </a:solidFill>
                <a:effectLst/>
                <a:latin typeface="Arial" pitchFamily="34" charset="0"/>
                <a:ea typeface="Cambria" pitchFamily="18" charset="0"/>
                <a:cs typeface="Calibri" pitchFamily="34" charset="0"/>
              </a:rPr>
              <a:t>                                         </a:t>
            </a:r>
          </a:p>
          <a:p>
            <a:pPr marL="0" marR="0" lvl="0" indent="457200" algn="ctr" defTabSz="914400" rtl="0" eaLnBrk="1" fontAlgn="base" latinLnBrk="0" hangingPunct="1">
              <a:lnSpc>
                <a:spcPct val="100000"/>
              </a:lnSpc>
              <a:spcBef>
                <a:spcPct val="0"/>
              </a:spcBef>
              <a:spcAft>
                <a:spcPct val="0"/>
              </a:spcAft>
              <a:buClrTx/>
              <a:buSzTx/>
              <a:buFontTx/>
              <a:buNone/>
              <a:tabLst>
                <a:tab pos="2865438" algn="ctr"/>
                <a:tab pos="5730875" algn="r"/>
              </a:tabLst>
            </a:pPr>
            <a:r>
              <a:rPr kumimoji="0" lang="en-US" sz="1300" b="1" i="0" u="none" strike="noStrike" cap="none" normalizeH="0" baseline="0" dirty="0">
                <a:ln>
                  <a:noFill/>
                </a:ln>
                <a:solidFill>
                  <a:srgbClr val="0070C0"/>
                </a:solidFill>
                <a:effectLst/>
                <a:latin typeface="Arial" pitchFamily="34" charset="0"/>
                <a:ea typeface="Cambria" pitchFamily="18" charset="0"/>
                <a:cs typeface="Calibri" pitchFamily="34" charset="0"/>
              </a:rPr>
              <a:t>   </a:t>
            </a:r>
            <a:r>
              <a:rPr kumimoji="0" lang="en-US" sz="1800" b="1" i="0" u="none" strike="noStrike" cap="none" normalizeH="0" baseline="0" dirty="0">
                <a:ln>
                  <a:noFill/>
                </a:ln>
                <a:solidFill>
                  <a:srgbClr val="0070C0"/>
                </a:solidFill>
                <a:effectLst/>
                <a:latin typeface="Arial" pitchFamily="34" charset="0"/>
                <a:ea typeface="Cambria" pitchFamily="18" charset="0"/>
                <a:cs typeface="Calibri" pitchFamily="34" charset="0"/>
              </a:rPr>
              <a:t>Sreyas Institute of Engineering and Technology</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sz="1800" b="1" i="1" u="none" strike="noStrike" cap="none" normalizeH="0" baseline="0" dirty="0">
                <a:ln>
                  <a:noFill/>
                </a:ln>
                <a:solidFill>
                  <a:srgbClr val="FF0000"/>
                </a:solidFill>
                <a:effectLst/>
                <a:latin typeface="Sitka Heading" charset="0"/>
                <a:ea typeface="Cambria" pitchFamily="18" charset="0"/>
                <a:cs typeface="Cambria" pitchFamily="18" charset="0"/>
              </a:rPr>
              <a:t> An Autonomous Institution</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sz="1800" b="0" i="0" u="none" strike="noStrike" cap="none" normalizeH="0" baseline="0" dirty="0">
                <a:ln>
                  <a:noFill/>
                </a:ln>
                <a:solidFill>
                  <a:schemeClr val="tx1"/>
                </a:solidFill>
                <a:effectLst/>
                <a:latin typeface="Palatino Linotype" pitchFamily="18" charset="0"/>
                <a:ea typeface="Cambria" pitchFamily="18" charset="0"/>
                <a:cs typeface="Cambria" pitchFamily="18" charset="0"/>
              </a:rPr>
              <a:t>Approved by AICTE, Affiliated to JNTUH</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sz="1800" b="0" i="0" u="none" strike="noStrike" cap="none" normalizeH="0" baseline="0" dirty="0">
                <a:ln>
                  <a:noFill/>
                </a:ln>
                <a:solidFill>
                  <a:schemeClr val="tx1"/>
                </a:solidFill>
                <a:effectLst/>
                <a:latin typeface="Palatino Linotype" pitchFamily="18" charset="0"/>
                <a:ea typeface="Cambria" pitchFamily="18" charset="0"/>
                <a:cs typeface="Cambria" pitchFamily="18" charset="0"/>
              </a:rPr>
              <a:t>                     Accredited by NAAC-A Grade, NBA (CSE, ECE &amp; ME) &amp; ISO 9001:2015 Certified</a:t>
            </a:r>
          </a:p>
          <a:p>
            <a:pPr marL="0" marR="0" lvl="0" indent="457200" algn="ctr" defTabSz="914400" rtl="0" eaLnBrk="0" fontAlgn="base" latinLnBrk="0" hangingPunct="0">
              <a:lnSpc>
                <a:spcPct val="100000"/>
              </a:lnSpc>
              <a:spcBef>
                <a:spcPct val="0"/>
              </a:spcBef>
              <a:spcAft>
                <a:spcPct val="0"/>
              </a:spcAft>
              <a:buClrTx/>
              <a:buSzTx/>
              <a:buFontTx/>
              <a:buNone/>
              <a:tabLst>
                <a:tab pos="2865438" algn="ctr"/>
                <a:tab pos="5730875" algn="r"/>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2865438" algn="ctr"/>
                <a:tab pos="5730875" algn="r"/>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8444" name="Rectangle 12">
            <a:extLst>
              <a:ext uri="{FF2B5EF4-FFF2-40B4-BE49-F238E27FC236}">
                <a16:creationId xmlns:a16="http://schemas.microsoft.com/office/drawing/2014/main" id="{364F16A8-8D6F-AD3D-42E4-E7C8DE10CFCF}"/>
              </a:ext>
            </a:extLst>
          </p:cNvPr>
          <p:cNvSpPr>
            <a:spLocks noChangeArrowheads="1"/>
          </p:cNvSpPr>
          <p:nvPr/>
        </p:nvSpPr>
        <p:spPr bwMode="auto">
          <a:xfrm>
            <a:off x="0" y="914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865438" algn="ctr"/>
                <a:tab pos="5730875" algn="r"/>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815814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EE8C-581C-FFF8-32AB-D1A90F148D3A}"/>
              </a:ext>
            </a:extLst>
          </p:cNvPr>
          <p:cNvSpPr>
            <a:spLocks noGrp="1"/>
          </p:cNvSpPr>
          <p:nvPr>
            <p:ph type="title"/>
          </p:nvPr>
        </p:nvSpPr>
        <p:spPr/>
        <p:txBody>
          <a:bodyPr/>
          <a:lstStyle/>
          <a:p>
            <a:r>
              <a:rPr lang="en-IN" dirty="0"/>
              <a:t>Testing Definition and Types</a:t>
            </a:r>
          </a:p>
        </p:txBody>
      </p:sp>
      <p:sp>
        <p:nvSpPr>
          <p:cNvPr id="3" name="Text Placeholder 2">
            <a:extLst>
              <a:ext uri="{FF2B5EF4-FFF2-40B4-BE49-F238E27FC236}">
                <a16:creationId xmlns:a16="http://schemas.microsoft.com/office/drawing/2014/main" id="{A48F3025-6BBA-78C0-70D3-FC7D0CE5AE65}"/>
              </a:ext>
            </a:extLst>
          </p:cNvPr>
          <p:cNvSpPr>
            <a:spLocks noGrp="1"/>
          </p:cNvSpPr>
          <p:nvPr>
            <p:ph type="body" idx="1"/>
          </p:nvPr>
        </p:nvSpPr>
        <p:spPr>
          <a:xfrm>
            <a:off x="1066800" y="1916832"/>
            <a:ext cx="10058400" cy="4273127"/>
          </a:xfrm>
        </p:spPr>
        <p:txBody>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Definition of Testin</a:t>
            </a:r>
            <a:r>
              <a:rPr lang="en-US" sz="1800" b="1" dirty="0">
                <a:latin typeface="Times New Roman" panose="02020603050405020304" pitchFamily="18" charset="0"/>
                <a:cs typeface="Times New Roman" panose="02020603050405020304" pitchFamily="18" charset="0"/>
              </a:rPr>
              <a:t>g:</a:t>
            </a:r>
            <a:endParaRPr lang="en-US" sz="1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Testing is the process of evaluating a system or component to ensure it meets specified requirements and functions correctly.</a:t>
            </a:r>
          </a:p>
          <a:p>
            <a:pPr marL="742950" lvl="1" indent="-28575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In this project, testing is done to verify the search functionality, user authentication accuracy, cart operations, and booking system behavior.</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Types of Testing:</a:t>
            </a:r>
            <a:endParaRPr lang="en-US" sz="1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Unit Testing:</a:t>
            </a:r>
            <a:r>
              <a:rPr lang="en-US" sz="1800" dirty="0">
                <a:latin typeface="Times New Roman" panose="02020603050405020304" pitchFamily="18" charset="0"/>
                <a:cs typeface="Times New Roman" panose="02020603050405020304" pitchFamily="18" charset="0"/>
              </a:rPr>
              <a:t> Testing individual components to ensure they function properly in isolation</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Integration Testing:</a:t>
            </a:r>
            <a:r>
              <a:rPr lang="en-US" sz="18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Verifying if different components (e.g., Flask backend and MongoDB Atlas, frontend and REST API) work together as intended.</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System Testing: </a:t>
            </a:r>
            <a:r>
              <a:rPr lang="en-US" sz="1900" dirty="0">
                <a:latin typeface="Times New Roman" panose="02020603050405020304" pitchFamily="18" charset="0"/>
                <a:cs typeface="Times New Roman" panose="02020603050405020304" pitchFamily="18" charset="0"/>
              </a:rPr>
              <a:t>Ensuring the entire platform functions properly under real-world conditions including deployment on Render and </a:t>
            </a:r>
            <a:r>
              <a:rPr lang="en-US" sz="1900" dirty="0" err="1">
                <a:latin typeface="Times New Roman" panose="02020603050405020304" pitchFamily="18" charset="0"/>
                <a:cs typeface="Times New Roman" panose="02020603050405020304" pitchFamily="18" charset="0"/>
              </a:rPr>
              <a:t>Vercel</a:t>
            </a:r>
            <a:r>
              <a:rPr lang="en-US" sz="19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User Acceptance Testing (UAT):</a:t>
            </a:r>
            <a:r>
              <a:rPr lang="en-US" sz="18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Ensuring that the search results, booking flow, and price comparison align with actual patient requirements.</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036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FEFC9-4C21-9134-72A3-9996BFE331F3}"/>
              </a:ext>
            </a:extLst>
          </p:cNvPr>
          <p:cNvSpPr>
            <a:spLocks noGrp="1"/>
          </p:cNvSpPr>
          <p:nvPr>
            <p:ph type="title"/>
          </p:nvPr>
        </p:nvSpPr>
        <p:spPr/>
        <p:txBody>
          <a:bodyPr/>
          <a:lstStyle/>
          <a:p>
            <a:r>
              <a:rPr lang="en-IN" dirty="0"/>
              <a:t>Test Cases</a:t>
            </a:r>
          </a:p>
        </p:txBody>
      </p:sp>
      <p:graphicFrame>
        <p:nvGraphicFramePr>
          <p:cNvPr id="9" name="Table 8">
            <a:extLst>
              <a:ext uri="{FF2B5EF4-FFF2-40B4-BE49-F238E27FC236}">
                <a16:creationId xmlns:a16="http://schemas.microsoft.com/office/drawing/2014/main" id="{1AA56CBF-074A-A757-EB72-E92A2015DB39}"/>
              </a:ext>
            </a:extLst>
          </p:cNvPr>
          <p:cNvGraphicFramePr>
            <a:graphicFrameLocks noGrp="1"/>
          </p:cNvGraphicFramePr>
          <p:nvPr>
            <p:extLst>
              <p:ext uri="{D42A27DB-BD31-4B8C-83A1-F6EECF244321}">
                <p14:modId xmlns:p14="http://schemas.microsoft.com/office/powerpoint/2010/main" val="1200448017"/>
              </p:ext>
            </p:extLst>
          </p:nvPr>
        </p:nvGraphicFramePr>
        <p:xfrm>
          <a:off x="1096963" y="2159794"/>
          <a:ext cx="10058400" cy="3798289"/>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1590909088"/>
                    </a:ext>
                  </a:extLst>
                </a:gridCol>
                <a:gridCol w="2011680">
                  <a:extLst>
                    <a:ext uri="{9D8B030D-6E8A-4147-A177-3AD203B41FA5}">
                      <a16:colId xmlns:a16="http://schemas.microsoft.com/office/drawing/2014/main" val="2628684062"/>
                    </a:ext>
                  </a:extLst>
                </a:gridCol>
                <a:gridCol w="2011680">
                  <a:extLst>
                    <a:ext uri="{9D8B030D-6E8A-4147-A177-3AD203B41FA5}">
                      <a16:colId xmlns:a16="http://schemas.microsoft.com/office/drawing/2014/main" val="3481167583"/>
                    </a:ext>
                  </a:extLst>
                </a:gridCol>
                <a:gridCol w="2011680">
                  <a:extLst>
                    <a:ext uri="{9D8B030D-6E8A-4147-A177-3AD203B41FA5}">
                      <a16:colId xmlns:a16="http://schemas.microsoft.com/office/drawing/2014/main" val="4111489296"/>
                    </a:ext>
                  </a:extLst>
                </a:gridCol>
                <a:gridCol w="2011680">
                  <a:extLst>
                    <a:ext uri="{9D8B030D-6E8A-4147-A177-3AD203B41FA5}">
                      <a16:colId xmlns:a16="http://schemas.microsoft.com/office/drawing/2014/main" val="2889839590"/>
                    </a:ext>
                  </a:extLst>
                </a:gridCol>
              </a:tblGrid>
              <a:tr h="437350">
                <a:tc>
                  <a:txBody>
                    <a:bodyPr/>
                    <a:lstStyle/>
                    <a:p>
                      <a:r>
                        <a:rPr lang="en-IN" b="1"/>
                        <a:t>Test Case ID</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t>Test Case Description</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t>Input</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t>Expected Output</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t>Pass/Fail Criteria</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1407607"/>
                  </a:ext>
                </a:extLst>
              </a:tr>
              <a:tr h="743496">
                <a:tc>
                  <a:txBody>
                    <a:bodyPr/>
                    <a:lstStyle/>
                    <a:p>
                      <a:r>
                        <a:rPr lang="en-IN"/>
                        <a:t>TC1</a:t>
                      </a:r>
                      <a:endParaRPr lang="en-IN">
                        <a:latin typeface="Times New Roman" panose="02020603050405020304" pitchFamily="18" charset="0"/>
                        <a:cs typeface="Times New Roman" panose="02020603050405020304" pitchFamily="18" charset="0"/>
                      </a:endParaRPr>
                    </a:p>
                  </a:txBody>
                  <a:tcPr anchor="ctr"/>
                </a:tc>
                <a:tc>
                  <a:txBody>
                    <a:bodyPr/>
                    <a:lstStyle/>
                    <a:p>
                      <a:r>
                        <a:rPr lang="en-US" dirty="0"/>
                        <a:t>Test search functionality for a diagnostic test </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Test name “CBC” entered in search bar </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Matching labs with prices displayed </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Results load correctly and are sorted by price.</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63316902"/>
                  </a:ext>
                </a:extLst>
              </a:tr>
              <a:tr h="743496">
                <a:tc>
                  <a:txBody>
                    <a:bodyPr/>
                    <a:lstStyle/>
                    <a:p>
                      <a:r>
                        <a:rPr lang="en-IN"/>
                        <a:t>TC2</a:t>
                      </a:r>
                      <a:endParaRPr lang="en-IN">
                        <a:latin typeface="Times New Roman" panose="02020603050405020304" pitchFamily="18" charset="0"/>
                        <a:cs typeface="Times New Roman" panose="02020603050405020304" pitchFamily="18" charset="0"/>
                      </a:endParaRPr>
                    </a:p>
                  </a:txBody>
                  <a:tcPr anchor="ctr"/>
                </a:tc>
                <a:tc>
                  <a:txBody>
                    <a:bodyPr/>
                    <a:lstStyle/>
                    <a:p>
                      <a:r>
                        <a:rPr lang="en-US" dirty="0"/>
                        <a:t>Test user authentication (valid credentials)</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IN"/>
                        <a:t>Correct username/password</a:t>
                      </a:r>
                      <a:endParaRPr lang="en-IN">
                        <a:latin typeface="Times New Roman" panose="02020603050405020304" pitchFamily="18" charset="0"/>
                        <a:cs typeface="Times New Roman" panose="02020603050405020304" pitchFamily="18" charset="0"/>
                      </a:endParaRPr>
                    </a:p>
                  </a:txBody>
                  <a:tcPr anchor="ctr"/>
                </a:tc>
                <a:tc>
                  <a:txBody>
                    <a:bodyPr/>
                    <a:lstStyle/>
                    <a:p>
                      <a:r>
                        <a:rPr lang="en-US" dirty="0"/>
                        <a:t>System grants access to dashboard</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Login succeeds and user is redirected </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47183901"/>
                  </a:ext>
                </a:extLst>
              </a:tr>
              <a:tr h="743496">
                <a:tc>
                  <a:txBody>
                    <a:bodyPr/>
                    <a:lstStyle/>
                    <a:p>
                      <a:r>
                        <a:rPr lang="en-IN"/>
                        <a:t>TC3</a:t>
                      </a:r>
                      <a:endParaRPr lang="en-IN">
                        <a:latin typeface="Times New Roman" panose="02020603050405020304" pitchFamily="18" charset="0"/>
                        <a:cs typeface="Times New Roman" panose="02020603050405020304" pitchFamily="18" charset="0"/>
                      </a:endParaRPr>
                    </a:p>
                  </a:txBody>
                  <a:tcPr anchor="ctr"/>
                </a:tc>
                <a:tc>
                  <a:txBody>
                    <a:bodyPr/>
                    <a:lstStyle/>
                    <a:p>
                      <a:r>
                        <a:rPr lang="en-US"/>
                        <a:t>Test user authentication (invalid credentials)</a:t>
                      </a:r>
                      <a:endParaRPr lang="en-US">
                        <a:latin typeface="Times New Roman" panose="02020603050405020304" pitchFamily="18" charset="0"/>
                        <a:cs typeface="Times New Roman" panose="02020603050405020304" pitchFamily="18" charset="0"/>
                      </a:endParaRPr>
                    </a:p>
                  </a:txBody>
                  <a:tcPr anchor="ctr"/>
                </a:tc>
                <a:tc>
                  <a:txBody>
                    <a:bodyPr/>
                    <a:lstStyle/>
                    <a:p>
                      <a:r>
                        <a:rPr lang="en-IN" dirty="0"/>
                        <a:t>Incorrect username/password</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t>System denies access </a:t>
                      </a:r>
                    </a:p>
                    <a:p>
                      <a:r>
                        <a:rPr lang="en-US" dirty="0">
                          <a:latin typeface="Times New Roman" panose="02020603050405020304" pitchFamily="18" charset="0"/>
                          <a:cs typeface="Times New Roman" panose="02020603050405020304" pitchFamily="18" charset="0"/>
                        </a:rPr>
                        <a:t>With correct price </a:t>
                      </a:r>
                    </a:p>
                  </a:txBody>
                  <a:tcPr anchor="ctr"/>
                </a:tc>
                <a:tc>
                  <a:txBody>
                    <a:bodyPr/>
                    <a:lstStyle/>
                    <a:p>
                      <a:r>
                        <a:rPr lang="en-US" dirty="0"/>
                        <a:t>Login fails and error is shown</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67545049"/>
                  </a:ext>
                </a:extLst>
              </a:tr>
              <a:tr h="1049641">
                <a:tc>
                  <a:txBody>
                    <a:bodyPr/>
                    <a:lstStyle/>
                    <a:p>
                      <a:r>
                        <a:rPr lang="en-IN"/>
                        <a:t>TC4</a:t>
                      </a:r>
                      <a:endParaRPr lang="en-IN">
                        <a:latin typeface="Times New Roman" panose="02020603050405020304" pitchFamily="18" charset="0"/>
                        <a:cs typeface="Times New Roman" panose="02020603050405020304" pitchFamily="18" charset="0"/>
                      </a:endParaRPr>
                    </a:p>
                  </a:txBody>
                  <a:tcPr anchor="ctr"/>
                </a:tc>
                <a:tc>
                  <a:txBody>
                    <a:bodyPr/>
                    <a:lstStyle/>
                    <a:p>
                      <a:r>
                        <a:rPr lang="en-US" dirty="0"/>
                        <a:t>Test booking via email request </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IN" dirty="0"/>
                        <a:t>User confirms booking with email mode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t>Booking saved and email send to lab </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Booking appears in history and email is delivered </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72541422"/>
                  </a:ext>
                </a:extLst>
              </a:tr>
            </a:tbl>
          </a:graphicData>
        </a:graphic>
      </p:graphicFrame>
    </p:spTree>
    <p:extLst>
      <p:ext uri="{BB962C8B-B14F-4D97-AF65-F5344CB8AC3E}">
        <p14:creationId xmlns:p14="http://schemas.microsoft.com/office/powerpoint/2010/main" val="1474279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1A3A5C"/>
          </a:solidFill>
          <a:ln w="12700">
            <a:solidFill>
              <a:srgbClr val="1A3A5C"/>
            </a:solidFill>
            <a:prstDash val="solid"/>
          </a:ln>
        </p:spPr>
      </p:sp>
      <p:sp>
        <p:nvSpPr>
          <p:cNvPr id="3" name="Text 1"/>
          <p:cNvSpPr/>
          <p:nvPr/>
        </p:nvSpPr>
        <p:spPr>
          <a:xfrm>
            <a:off x="426720" y="268224"/>
            <a:ext cx="11338560" cy="792480"/>
          </a:xfrm>
          <a:prstGeom prst="rect">
            <a:avLst/>
          </a:prstGeom>
          <a:noFill/>
          <a:ln/>
        </p:spPr>
        <p:txBody>
          <a:bodyPr wrap="square" rtlCol="0" anchor="ctr"/>
          <a:lstStyle/>
          <a:p>
            <a:r>
              <a:rPr lang="en-US" sz="4267" b="1" dirty="0">
                <a:solidFill>
                  <a:srgbClr val="1A3A5C"/>
                </a:solidFill>
                <a:latin typeface="Times New Roman" pitchFamily="34" charset="0"/>
                <a:ea typeface="Times New Roman" pitchFamily="34" charset="-122"/>
                <a:cs typeface="Times New Roman" pitchFamily="34" charset="-120"/>
              </a:rPr>
              <a:t>Output</a:t>
            </a:r>
            <a:endParaRPr lang="en-US" sz="4267" dirty="0"/>
          </a:p>
        </p:txBody>
      </p:sp>
      <p:sp>
        <p:nvSpPr>
          <p:cNvPr id="4" name="Shape 2"/>
          <p:cNvSpPr/>
          <p:nvPr/>
        </p:nvSpPr>
        <p:spPr>
          <a:xfrm>
            <a:off x="426720" y="1158240"/>
            <a:ext cx="11338560" cy="36576"/>
          </a:xfrm>
          <a:prstGeom prst="rect">
            <a:avLst/>
          </a:prstGeom>
          <a:solidFill>
            <a:srgbClr val="1A3A5C"/>
          </a:solidFill>
          <a:ln w="12700">
            <a:solidFill>
              <a:srgbClr val="1A3A5C"/>
            </a:solidFill>
            <a:prstDash val="solid"/>
          </a:ln>
        </p:spPr>
      </p:sp>
      <p:sp>
        <p:nvSpPr>
          <p:cNvPr id="5" name="Shape 3"/>
          <p:cNvSpPr/>
          <p:nvPr/>
        </p:nvSpPr>
        <p:spPr>
          <a:xfrm>
            <a:off x="426720" y="1316736"/>
            <a:ext cx="11338560" cy="4389120"/>
          </a:xfrm>
          <a:prstGeom prst="rect">
            <a:avLst/>
          </a:prstGeom>
          <a:solidFill>
            <a:srgbClr val="F4F7FB"/>
          </a:solidFill>
          <a:ln w="6350">
            <a:solidFill>
              <a:srgbClr val="E2E8F0"/>
            </a:solidFill>
            <a:prstDash val="solid"/>
          </a:ln>
        </p:spPr>
      </p:sp>
      <p:sp>
        <p:nvSpPr>
          <p:cNvPr id="6" name="Text 4"/>
          <p:cNvSpPr/>
          <p:nvPr/>
        </p:nvSpPr>
        <p:spPr>
          <a:xfrm>
            <a:off x="670560" y="1365504"/>
            <a:ext cx="10972800" cy="4267200"/>
          </a:xfrm>
          <a:prstGeom prst="rect">
            <a:avLst/>
          </a:prstGeom>
          <a:noFill/>
          <a:ln/>
        </p:spPr>
        <p:txBody>
          <a:bodyPr wrap="square" rtlCol="0" anchor="t"/>
          <a:lstStyle/>
          <a:p>
            <a:pPr>
              <a:spcAft>
                <a:spcPts val="267"/>
              </a:spcAft>
            </a:pPr>
            <a:r>
              <a:rPr lang="en-US" sz="1800" b="1" dirty="0">
                <a:solidFill>
                  <a:srgbClr val="1E293B"/>
                </a:solidFill>
                <a:latin typeface="Times New Roman" pitchFamily="34" charset="0"/>
                <a:ea typeface="Times New Roman" pitchFamily="34" charset="-122"/>
                <a:cs typeface="Times New Roman" pitchFamily="34" charset="-120"/>
              </a:rPr>
              <a:t>Output Explanation
</a:t>
            </a:r>
            <a:r>
              <a:rPr lang="en-US" sz="1800" dirty="0">
                <a:solidFill>
                  <a:srgbClr val="1E293B"/>
                </a:solidFill>
                <a:latin typeface="Times New Roman" pitchFamily="34" charset="0"/>
                <a:ea typeface="Times New Roman" pitchFamily="34" charset="-122"/>
                <a:cs typeface="Times New Roman" pitchFamily="34" charset="-120"/>
              </a:rPr>
              <a:t>The simulation demonstrates a Flask-based healthcare test price comparison platform, incorporating fuzzy search, real-time price fetching, and a booking system.
The search module successfully returns matching diagnostic tests with prices across all 11 Hyderabad labs, sorted from lowest to highest price.
The cart system accurately adds, removes, and persists items per user session, with correct total price calculation.
The booking module saves requests to the database and triggers email notifications via SendGrid to the respective lab.
The authentication system correctly restricts access, maintaining separate sessions for users and admin.
</a:t>
            </a:r>
            <a:r>
              <a:rPr lang="en-US" sz="1800" b="1" dirty="0">
                <a:solidFill>
                  <a:srgbClr val="1E293B"/>
                </a:solidFill>
                <a:latin typeface="Times New Roman" pitchFamily="34" charset="0"/>
                <a:ea typeface="Times New Roman" pitchFamily="34" charset="-122"/>
                <a:cs typeface="Times New Roman" pitchFamily="34" charset="-120"/>
              </a:rPr>
              <a:t>Final Output: </a:t>
            </a:r>
            <a:r>
              <a:rPr lang="en-US" sz="1800" i="1" dirty="0">
                <a:solidFill>
                  <a:srgbClr val="1E293B"/>
                </a:solidFill>
                <a:latin typeface="Times New Roman" pitchFamily="34" charset="0"/>
                <a:ea typeface="Times New Roman" pitchFamily="34" charset="-122"/>
                <a:cs typeface="Times New Roman" pitchFamily="34" charset="-120"/>
              </a:rPr>
              <a:t>"User searches for a test, compares prices across labs, adds preferred lab to cart, and successfully books the test — receiving an email confirmation with lab contact details."</a:t>
            </a:r>
            <a:endParaRPr lang="en-US" sz="1800" dirty="0"/>
          </a:p>
        </p:txBody>
      </p:sp>
      <p:sp>
        <p:nvSpPr>
          <p:cNvPr id="7" name="Shape 5"/>
          <p:cNvSpPr/>
          <p:nvPr/>
        </p:nvSpPr>
        <p:spPr>
          <a:xfrm>
            <a:off x="426720" y="1316736"/>
            <a:ext cx="97536" cy="4389120"/>
          </a:xfrm>
          <a:prstGeom prst="rect">
            <a:avLst/>
          </a:prstGeom>
          <a:solidFill>
            <a:srgbClr val="0D9488"/>
          </a:solidFill>
          <a:ln w="12700">
            <a:solidFill>
              <a:srgbClr val="0D948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C002-5D2E-F7E8-57AB-1834E7564052}"/>
              </a:ext>
            </a:extLst>
          </p:cNvPr>
          <p:cNvSpPr>
            <a:spLocks noGrp="1"/>
          </p:cNvSpPr>
          <p:nvPr>
            <p:ph type="title"/>
          </p:nvPr>
        </p:nvSpPr>
        <p:spPr>
          <a:xfrm>
            <a:off x="263352" y="-492050"/>
            <a:ext cx="10058400" cy="1450757"/>
          </a:xfrm>
        </p:spPr>
        <p:txBody>
          <a:bodyPr/>
          <a:lstStyle/>
          <a:p>
            <a:r>
              <a:rPr lang="en-IN" dirty="0">
                <a:latin typeface="Times New Roman" panose="02020603050405020304" pitchFamily="18" charset="0"/>
                <a:cs typeface="Times New Roman" panose="02020603050405020304" pitchFamily="18" charset="0"/>
              </a:rPr>
              <a:t>Output</a:t>
            </a:r>
          </a:p>
        </p:txBody>
      </p:sp>
      <p:sp>
        <p:nvSpPr>
          <p:cNvPr id="3" name="Text Placeholder 2">
            <a:extLst>
              <a:ext uri="{FF2B5EF4-FFF2-40B4-BE49-F238E27FC236}">
                <a16:creationId xmlns:a16="http://schemas.microsoft.com/office/drawing/2014/main" id="{0BAF2F9B-2FA9-5A1D-462C-80616DFE4C84}"/>
              </a:ext>
            </a:extLst>
          </p:cNvPr>
          <p:cNvSpPr>
            <a:spLocks noGrp="1"/>
          </p:cNvSpPr>
          <p:nvPr>
            <p:ph type="body" idx="1"/>
          </p:nvPr>
        </p:nvSpPr>
        <p:spPr/>
        <p:txBody>
          <a:bodyPr/>
          <a:lstStyle/>
          <a:p>
            <a:endParaRPr lang="en-IN" dirty="0"/>
          </a:p>
          <a:p>
            <a:endParaRPr lang="en-IN" dirty="0"/>
          </a:p>
          <a:p>
            <a:endParaRPr lang="en-IN" dirty="0"/>
          </a:p>
          <a:p>
            <a:endParaRPr lang="en-IN" dirty="0"/>
          </a:p>
          <a:p>
            <a:endParaRPr lang="en-IN" dirty="0"/>
          </a:p>
          <a:p>
            <a:pPr marL="114300" indent="0">
              <a:buNone/>
            </a:pPr>
            <a:endParaRPr lang="en-IN" dirty="0"/>
          </a:p>
        </p:txBody>
      </p:sp>
      <p:pic>
        <p:nvPicPr>
          <p:cNvPr id="9" name="Picture 8">
            <a:extLst>
              <a:ext uri="{FF2B5EF4-FFF2-40B4-BE49-F238E27FC236}">
                <a16:creationId xmlns:a16="http://schemas.microsoft.com/office/drawing/2014/main" id="{35F53D7B-66F4-9E25-2A9B-D089D13329AA}"/>
              </a:ext>
            </a:extLst>
          </p:cNvPr>
          <p:cNvPicPr>
            <a:picLocks noChangeAspect="1"/>
          </p:cNvPicPr>
          <p:nvPr/>
        </p:nvPicPr>
        <p:blipFill>
          <a:blip r:embed="rId2"/>
          <a:stretch>
            <a:fillRect/>
          </a:stretch>
        </p:blipFill>
        <p:spPr>
          <a:xfrm>
            <a:off x="1013219" y="1903385"/>
            <a:ext cx="10339365" cy="409632"/>
          </a:xfrm>
          <a:prstGeom prst="rect">
            <a:avLst/>
          </a:prstGeom>
        </p:spPr>
      </p:pic>
      <p:pic>
        <p:nvPicPr>
          <p:cNvPr id="10" name="Picture 9">
            <a:extLst>
              <a:ext uri="{FF2B5EF4-FFF2-40B4-BE49-F238E27FC236}">
                <a16:creationId xmlns:a16="http://schemas.microsoft.com/office/drawing/2014/main" id="{43F5382F-CE30-3256-96E7-6E2F11A80347}"/>
              </a:ext>
            </a:extLst>
          </p:cNvPr>
          <p:cNvPicPr>
            <a:picLocks noChangeAspect="1"/>
          </p:cNvPicPr>
          <p:nvPr/>
        </p:nvPicPr>
        <p:blipFill>
          <a:blip r:embed="rId3"/>
          <a:stretch>
            <a:fillRect/>
          </a:stretch>
        </p:blipFill>
        <p:spPr>
          <a:xfrm>
            <a:off x="1703512" y="1821620"/>
            <a:ext cx="8856983" cy="3407580"/>
          </a:xfrm>
          <a:prstGeom prst="rect">
            <a:avLst/>
          </a:prstGeom>
        </p:spPr>
      </p:pic>
    </p:spTree>
    <p:extLst>
      <p:ext uri="{BB962C8B-B14F-4D97-AF65-F5344CB8AC3E}">
        <p14:creationId xmlns:p14="http://schemas.microsoft.com/office/powerpoint/2010/main" val="836238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8A70-47D5-27ED-DE0F-3495E72C9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77241-E817-CEC5-5676-2C67F6B1B7D2}"/>
              </a:ext>
            </a:extLst>
          </p:cNvPr>
          <p:cNvSpPr>
            <a:spLocks noGrp="1"/>
          </p:cNvSpPr>
          <p:nvPr>
            <p:ph type="title"/>
          </p:nvPr>
        </p:nvSpPr>
        <p:spPr>
          <a:xfrm>
            <a:off x="263352" y="-492050"/>
            <a:ext cx="10058400" cy="1450757"/>
          </a:xfrm>
        </p:spPr>
        <p:txBody>
          <a:bodyPr/>
          <a:lstStyle/>
          <a:p>
            <a:r>
              <a:rPr lang="en-IN" dirty="0">
                <a:latin typeface="Times New Roman" panose="02020603050405020304" pitchFamily="18" charset="0"/>
                <a:cs typeface="Times New Roman" panose="02020603050405020304" pitchFamily="18" charset="0"/>
              </a:rPr>
              <a:t>Output</a:t>
            </a:r>
          </a:p>
        </p:txBody>
      </p:sp>
      <p:sp>
        <p:nvSpPr>
          <p:cNvPr id="3" name="Text Placeholder 2">
            <a:extLst>
              <a:ext uri="{FF2B5EF4-FFF2-40B4-BE49-F238E27FC236}">
                <a16:creationId xmlns:a16="http://schemas.microsoft.com/office/drawing/2014/main" id="{0CB648CD-3237-1151-B8D9-F05DA9B3E5CD}"/>
              </a:ext>
            </a:extLst>
          </p:cNvPr>
          <p:cNvSpPr>
            <a:spLocks noGrp="1"/>
          </p:cNvSpPr>
          <p:nvPr>
            <p:ph type="body" idx="1"/>
          </p:nvPr>
        </p:nvSpPr>
        <p:spPr/>
        <p:txBody>
          <a:bodyPr/>
          <a:lstStyle/>
          <a:p>
            <a:endParaRPr lang="en-IN" dirty="0"/>
          </a:p>
          <a:p>
            <a:endParaRPr lang="en-IN" dirty="0"/>
          </a:p>
          <a:p>
            <a:endParaRPr lang="en-IN" dirty="0"/>
          </a:p>
          <a:p>
            <a:endParaRPr lang="en-IN" dirty="0"/>
          </a:p>
          <a:p>
            <a:endParaRPr lang="en-IN" dirty="0"/>
          </a:p>
          <a:p>
            <a:pPr marL="114300" indent="0">
              <a:buNone/>
            </a:pPr>
            <a:endParaRPr lang="en-IN" dirty="0"/>
          </a:p>
        </p:txBody>
      </p:sp>
      <p:pic>
        <p:nvPicPr>
          <p:cNvPr id="9" name="Picture 8">
            <a:extLst>
              <a:ext uri="{FF2B5EF4-FFF2-40B4-BE49-F238E27FC236}">
                <a16:creationId xmlns:a16="http://schemas.microsoft.com/office/drawing/2014/main" id="{3A7B8877-5FA5-9617-709F-74DCD1BECB25}"/>
              </a:ext>
            </a:extLst>
          </p:cNvPr>
          <p:cNvPicPr>
            <a:picLocks noChangeAspect="1"/>
          </p:cNvPicPr>
          <p:nvPr/>
        </p:nvPicPr>
        <p:blipFill>
          <a:blip r:embed="rId2"/>
          <a:stretch>
            <a:fillRect/>
          </a:stretch>
        </p:blipFill>
        <p:spPr>
          <a:xfrm>
            <a:off x="1013219" y="1903385"/>
            <a:ext cx="10339365" cy="409632"/>
          </a:xfrm>
          <a:prstGeom prst="rect">
            <a:avLst/>
          </a:prstGeom>
        </p:spPr>
      </p:pic>
      <p:pic>
        <p:nvPicPr>
          <p:cNvPr id="12" name="Picture 11">
            <a:extLst>
              <a:ext uri="{FF2B5EF4-FFF2-40B4-BE49-F238E27FC236}">
                <a16:creationId xmlns:a16="http://schemas.microsoft.com/office/drawing/2014/main" id="{2737A1FA-717D-DB36-4464-5F56E2395B08}"/>
              </a:ext>
            </a:extLst>
          </p:cNvPr>
          <p:cNvPicPr>
            <a:picLocks noChangeAspect="1"/>
          </p:cNvPicPr>
          <p:nvPr/>
        </p:nvPicPr>
        <p:blipFill>
          <a:blip r:embed="rId3"/>
          <a:stretch>
            <a:fillRect/>
          </a:stretch>
        </p:blipFill>
        <p:spPr>
          <a:xfrm>
            <a:off x="634089" y="958707"/>
            <a:ext cx="5953956" cy="5258534"/>
          </a:xfrm>
          <a:prstGeom prst="rect">
            <a:avLst/>
          </a:prstGeom>
        </p:spPr>
      </p:pic>
      <p:pic>
        <p:nvPicPr>
          <p:cNvPr id="5" name="Picture 4">
            <a:extLst>
              <a:ext uri="{FF2B5EF4-FFF2-40B4-BE49-F238E27FC236}">
                <a16:creationId xmlns:a16="http://schemas.microsoft.com/office/drawing/2014/main" id="{3F21BD71-A160-411F-3880-A8B517CE5AF0}"/>
              </a:ext>
            </a:extLst>
          </p:cNvPr>
          <p:cNvPicPr>
            <a:picLocks noChangeAspect="1"/>
          </p:cNvPicPr>
          <p:nvPr/>
        </p:nvPicPr>
        <p:blipFill>
          <a:blip r:embed="rId4"/>
          <a:stretch>
            <a:fillRect/>
          </a:stretch>
        </p:blipFill>
        <p:spPr>
          <a:xfrm>
            <a:off x="6881882" y="1542787"/>
            <a:ext cx="3943900" cy="3772426"/>
          </a:xfrm>
          <a:prstGeom prst="rect">
            <a:avLst/>
          </a:prstGeom>
        </p:spPr>
      </p:pic>
    </p:spTree>
    <p:extLst>
      <p:ext uri="{BB962C8B-B14F-4D97-AF65-F5344CB8AC3E}">
        <p14:creationId xmlns:p14="http://schemas.microsoft.com/office/powerpoint/2010/main" val="302441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A6430-25B0-F8F4-4CE4-BBE830605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B5B3D-A907-5707-58F0-7F2726E307EB}"/>
              </a:ext>
            </a:extLst>
          </p:cNvPr>
          <p:cNvSpPr>
            <a:spLocks noGrp="1"/>
          </p:cNvSpPr>
          <p:nvPr>
            <p:ph type="title"/>
          </p:nvPr>
        </p:nvSpPr>
        <p:spPr>
          <a:xfrm>
            <a:off x="263352" y="-492050"/>
            <a:ext cx="10058400" cy="1450757"/>
          </a:xfrm>
        </p:spPr>
        <p:txBody>
          <a:bodyPr/>
          <a:lstStyle/>
          <a:p>
            <a:r>
              <a:rPr lang="en-IN" dirty="0">
                <a:latin typeface="Times New Roman" panose="02020603050405020304" pitchFamily="18" charset="0"/>
                <a:cs typeface="Times New Roman" panose="02020603050405020304" pitchFamily="18" charset="0"/>
              </a:rPr>
              <a:t>Output</a:t>
            </a:r>
          </a:p>
        </p:txBody>
      </p:sp>
      <p:sp>
        <p:nvSpPr>
          <p:cNvPr id="3" name="Text Placeholder 2">
            <a:extLst>
              <a:ext uri="{FF2B5EF4-FFF2-40B4-BE49-F238E27FC236}">
                <a16:creationId xmlns:a16="http://schemas.microsoft.com/office/drawing/2014/main" id="{575602BA-361A-7536-2029-FFC760EBEFA2}"/>
              </a:ext>
            </a:extLst>
          </p:cNvPr>
          <p:cNvSpPr>
            <a:spLocks noGrp="1"/>
          </p:cNvSpPr>
          <p:nvPr>
            <p:ph type="body" idx="1"/>
          </p:nvPr>
        </p:nvSpPr>
        <p:spPr/>
        <p:txBody>
          <a:bodyPr/>
          <a:lstStyle/>
          <a:p>
            <a:endParaRPr lang="en-IN" dirty="0"/>
          </a:p>
          <a:p>
            <a:endParaRPr lang="en-IN" dirty="0"/>
          </a:p>
          <a:p>
            <a:endParaRPr lang="en-IN" dirty="0"/>
          </a:p>
          <a:p>
            <a:endParaRPr lang="en-IN" dirty="0"/>
          </a:p>
          <a:p>
            <a:endParaRPr lang="en-IN" dirty="0"/>
          </a:p>
          <a:p>
            <a:pPr marL="114300" indent="0">
              <a:buNone/>
            </a:pPr>
            <a:endParaRPr lang="en-IN" dirty="0"/>
          </a:p>
        </p:txBody>
      </p:sp>
      <p:pic>
        <p:nvPicPr>
          <p:cNvPr id="9" name="Picture 8">
            <a:extLst>
              <a:ext uri="{FF2B5EF4-FFF2-40B4-BE49-F238E27FC236}">
                <a16:creationId xmlns:a16="http://schemas.microsoft.com/office/drawing/2014/main" id="{96F6AFAE-B446-68F6-B8E8-B5AB4DF9A080}"/>
              </a:ext>
            </a:extLst>
          </p:cNvPr>
          <p:cNvPicPr>
            <a:picLocks noChangeAspect="1"/>
          </p:cNvPicPr>
          <p:nvPr/>
        </p:nvPicPr>
        <p:blipFill>
          <a:blip r:embed="rId2"/>
          <a:stretch>
            <a:fillRect/>
          </a:stretch>
        </p:blipFill>
        <p:spPr>
          <a:xfrm>
            <a:off x="1013219" y="1903385"/>
            <a:ext cx="10339365" cy="409632"/>
          </a:xfrm>
          <a:prstGeom prst="rect">
            <a:avLst/>
          </a:prstGeom>
        </p:spPr>
      </p:pic>
      <p:pic>
        <p:nvPicPr>
          <p:cNvPr id="7" name="Picture 6">
            <a:extLst>
              <a:ext uri="{FF2B5EF4-FFF2-40B4-BE49-F238E27FC236}">
                <a16:creationId xmlns:a16="http://schemas.microsoft.com/office/drawing/2014/main" id="{77EC1562-4578-19F7-E20B-9263901CBE6E}"/>
              </a:ext>
            </a:extLst>
          </p:cNvPr>
          <p:cNvPicPr>
            <a:picLocks noChangeAspect="1"/>
          </p:cNvPicPr>
          <p:nvPr/>
        </p:nvPicPr>
        <p:blipFill>
          <a:blip r:embed="rId3"/>
          <a:stretch>
            <a:fillRect/>
          </a:stretch>
        </p:blipFill>
        <p:spPr>
          <a:xfrm>
            <a:off x="1559496" y="1124744"/>
            <a:ext cx="8414560" cy="5243354"/>
          </a:xfrm>
          <a:prstGeom prst="rect">
            <a:avLst/>
          </a:prstGeom>
        </p:spPr>
      </p:pic>
    </p:spTree>
    <p:extLst>
      <p:ext uri="{BB962C8B-B14F-4D97-AF65-F5344CB8AC3E}">
        <p14:creationId xmlns:p14="http://schemas.microsoft.com/office/powerpoint/2010/main" val="2422139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1A3A5C"/>
          </a:solidFill>
          <a:ln w="12700">
            <a:solidFill>
              <a:srgbClr val="1A3A5C"/>
            </a:solidFill>
            <a:prstDash val="solid"/>
          </a:ln>
        </p:spPr>
      </p:sp>
      <p:sp>
        <p:nvSpPr>
          <p:cNvPr id="3" name="Text 1"/>
          <p:cNvSpPr/>
          <p:nvPr/>
        </p:nvSpPr>
        <p:spPr>
          <a:xfrm>
            <a:off x="426720" y="268224"/>
            <a:ext cx="11338560" cy="792480"/>
          </a:xfrm>
          <a:prstGeom prst="rect">
            <a:avLst/>
          </a:prstGeom>
          <a:noFill/>
          <a:ln/>
        </p:spPr>
        <p:txBody>
          <a:bodyPr wrap="square" rtlCol="0" anchor="ctr"/>
          <a:lstStyle/>
          <a:p>
            <a:r>
              <a:rPr lang="en-US" sz="4267" b="1" dirty="0">
                <a:solidFill>
                  <a:srgbClr val="1A3A5C"/>
                </a:solidFill>
                <a:latin typeface="Times New Roman" pitchFamily="34" charset="0"/>
                <a:ea typeface="Times New Roman" pitchFamily="34" charset="-122"/>
                <a:cs typeface="Times New Roman" pitchFamily="34" charset="-120"/>
              </a:rPr>
              <a:t>Limitations of the Project</a:t>
            </a:r>
            <a:endParaRPr lang="en-US" sz="4267" dirty="0"/>
          </a:p>
        </p:txBody>
      </p:sp>
      <p:sp>
        <p:nvSpPr>
          <p:cNvPr id="4" name="Shape 2"/>
          <p:cNvSpPr/>
          <p:nvPr/>
        </p:nvSpPr>
        <p:spPr>
          <a:xfrm>
            <a:off x="426720" y="1158240"/>
            <a:ext cx="11338560" cy="36576"/>
          </a:xfrm>
          <a:prstGeom prst="rect">
            <a:avLst/>
          </a:prstGeom>
          <a:solidFill>
            <a:srgbClr val="1A3A5C"/>
          </a:solidFill>
          <a:ln w="12700">
            <a:solidFill>
              <a:srgbClr val="1A3A5C"/>
            </a:solidFill>
            <a:prstDash val="solid"/>
          </a:ln>
        </p:spPr>
      </p:sp>
      <p:sp>
        <p:nvSpPr>
          <p:cNvPr id="5" name="Shape 3"/>
          <p:cNvSpPr/>
          <p:nvPr/>
        </p:nvSpPr>
        <p:spPr>
          <a:xfrm>
            <a:off x="426720" y="1280160"/>
            <a:ext cx="11338560" cy="1219200"/>
          </a:xfrm>
          <a:prstGeom prst="rect">
            <a:avLst/>
          </a:prstGeom>
          <a:solidFill>
            <a:srgbClr val="F4F7FB"/>
          </a:solidFill>
          <a:ln w="6350">
            <a:solidFill>
              <a:srgbClr val="E2E8F0"/>
            </a:solidFill>
            <a:prstDash val="solid"/>
          </a:ln>
        </p:spPr>
      </p:sp>
      <p:sp>
        <p:nvSpPr>
          <p:cNvPr id="6" name="Shape 4"/>
          <p:cNvSpPr/>
          <p:nvPr/>
        </p:nvSpPr>
        <p:spPr>
          <a:xfrm>
            <a:off x="426720" y="1280160"/>
            <a:ext cx="463296" cy="1219200"/>
          </a:xfrm>
          <a:prstGeom prst="rect">
            <a:avLst/>
          </a:prstGeom>
          <a:solidFill>
            <a:srgbClr val="0D9488"/>
          </a:solidFill>
          <a:ln w="12700">
            <a:solidFill>
              <a:srgbClr val="0D9488"/>
            </a:solidFill>
            <a:prstDash val="solid"/>
          </a:ln>
        </p:spPr>
      </p:sp>
      <p:sp>
        <p:nvSpPr>
          <p:cNvPr id="7" name="Text 5"/>
          <p:cNvSpPr/>
          <p:nvPr/>
        </p:nvSpPr>
        <p:spPr>
          <a:xfrm>
            <a:off x="426720" y="1280160"/>
            <a:ext cx="463296" cy="1219200"/>
          </a:xfrm>
          <a:prstGeom prst="rect">
            <a:avLst/>
          </a:prstGeom>
          <a:noFill/>
          <a:ln/>
        </p:spPr>
        <p:txBody>
          <a:bodyPr wrap="square" lIns="0" tIns="0" rIns="0" bIns="0" rtlCol="0" anchor="ctr"/>
          <a:lstStyle/>
          <a:p>
            <a:pPr algn="ctr"/>
            <a:r>
              <a:rPr lang="en-US" sz="1867" b="1" dirty="0">
                <a:solidFill>
                  <a:srgbClr val="FFFFFF"/>
                </a:solidFill>
                <a:latin typeface="Times New Roman" pitchFamily="34" charset="0"/>
                <a:ea typeface="Times New Roman" pitchFamily="34" charset="-122"/>
                <a:cs typeface="Times New Roman" pitchFamily="34" charset="-120"/>
              </a:rPr>
              <a:t>1.</a:t>
            </a:r>
            <a:endParaRPr lang="en-US" sz="1867" dirty="0"/>
          </a:p>
        </p:txBody>
      </p:sp>
      <p:sp>
        <p:nvSpPr>
          <p:cNvPr id="8" name="Text 6"/>
          <p:cNvSpPr/>
          <p:nvPr/>
        </p:nvSpPr>
        <p:spPr>
          <a:xfrm>
            <a:off x="999744" y="1341120"/>
            <a:ext cx="10607040" cy="1097280"/>
          </a:xfrm>
          <a:prstGeom prst="rect">
            <a:avLst/>
          </a:prstGeom>
          <a:noFill/>
          <a:ln/>
        </p:spPr>
        <p:txBody>
          <a:bodyPr wrap="square" rtlCol="0" anchor="ctr"/>
          <a:lstStyle/>
          <a:p>
            <a:r>
              <a:rPr lang="en-US" sz="1733" b="1" dirty="0">
                <a:solidFill>
                  <a:srgbClr val="1E293B"/>
                </a:solidFill>
                <a:latin typeface="Times New Roman" pitchFamily="34" charset="0"/>
                <a:ea typeface="Times New Roman" pitchFamily="34" charset="-122"/>
                <a:cs typeface="Times New Roman" pitchFamily="34" charset="-120"/>
              </a:rPr>
              <a:t>Data Limitations:
</a:t>
            </a:r>
            <a:r>
              <a:rPr lang="en-US" sz="1733" dirty="0">
                <a:solidFill>
                  <a:srgbClr val="1E293B"/>
                </a:solidFill>
                <a:latin typeface="Times New Roman" pitchFamily="34" charset="0"/>
                <a:ea typeface="Times New Roman" pitchFamily="34" charset="-122"/>
                <a:cs typeface="Times New Roman" pitchFamily="34" charset="-120"/>
              </a:rPr>
              <a:t>○  Lab prices are manually maintained and may not reflect real-time pricing.
○  Only 11 labs and 16 tests are currently covered.</a:t>
            </a:r>
            <a:endParaRPr lang="en-US" sz="1733" dirty="0"/>
          </a:p>
        </p:txBody>
      </p:sp>
      <p:sp>
        <p:nvSpPr>
          <p:cNvPr id="9" name="Shape 7"/>
          <p:cNvSpPr/>
          <p:nvPr/>
        </p:nvSpPr>
        <p:spPr>
          <a:xfrm>
            <a:off x="426720" y="2572512"/>
            <a:ext cx="11338560" cy="1219200"/>
          </a:xfrm>
          <a:prstGeom prst="rect">
            <a:avLst/>
          </a:prstGeom>
          <a:solidFill>
            <a:srgbClr val="F4F7FB"/>
          </a:solidFill>
          <a:ln w="6350">
            <a:solidFill>
              <a:srgbClr val="E2E8F0"/>
            </a:solidFill>
            <a:prstDash val="solid"/>
          </a:ln>
        </p:spPr>
      </p:sp>
      <p:sp>
        <p:nvSpPr>
          <p:cNvPr id="10" name="Shape 8"/>
          <p:cNvSpPr/>
          <p:nvPr/>
        </p:nvSpPr>
        <p:spPr>
          <a:xfrm>
            <a:off x="426720" y="2572512"/>
            <a:ext cx="463296" cy="1219200"/>
          </a:xfrm>
          <a:prstGeom prst="rect">
            <a:avLst/>
          </a:prstGeom>
          <a:solidFill>
            <a:srgbClr val="0D9488"/>
          </a:solidFill>
          <a:ln w="12700">
            <a:solidFill>
              <a:srgbClr val="0D9488"/>
            </a:solidFill>
            <a:prstDash val="solid"/>
          </a:ln>
        </p:spPr>
      </p:sp>
      <p:sp>
        <p:nvSpPr>
          <p:cNvPr id="11" name="Text 9"/>
          <p:cNvSpPr/>
          <p:nvPr/>
        </p:nvSpPr>
        <p:spPr>
          <a:xfrm>
            <a:off x="426720" y="2572512"/>
            <a:ext cx="463296" cy="1219200"/>
          </a:xfrm>
          <a:prstGeom prst="rect">
            <a:avLst/>
          </a:prstGeom>
          <a:noFill/>
          <a:ln/>
        </p:spPr>
        <p:txBody>
          <a:bodyPr wrap="square" lIns="0" tIns="0" rIns="0" bIns="0" rtlCol="0" anchor="ctr"/>
          <a:lstStyle/>
          <a:p>
            <a:pPr algn="ctr"/>
            <a:r>
              <a:rPr lang="en-US" sz="1867" b="1" dirty="0">
                <a:solidFill>
                  <a:srgbClr val="FFFFFF"/>
                </a:solidFill>
                <a:latin typeface="Times New Roman" pitchFamily="34" charset="0"/>
                <a:ea typeface="Times New Roman" pitchFamily="34" charset="-122"/>
                <a:cs typeface="Times New Roman" pitchFamily="34" charset="-120"/>
              </a:rPr>
              <a:t>2.</a:t>
            </a:r>
            <a:endParaRPr lang="en-US" sz="1867" dirty="0"/>
          </a:p>
        </p:txBody>
      </p:sp>
      <p:sp>
        <p:nvSpPr>
          <p:cNvPr id="12" name="Text 10"/>
          <p:cNvSpPr/>
          <p:nvPr/>
        </p:nvSpPr>
        <p:spPr>
          <a:xfrm>
            <a:off x="999744" y="2633472"/>
            <a:ext cx="10607040" cy="1097280"/>
          </a:xfrm>
          <a:prstGeom prst="rect">
            <a:avLst/>
          </a:prstGeom>
          <a:noFill/>
          <a:ln/>
        </p:spPr>
        <p:txBody>
          <a:bodyPr wrap="square" rtlCol="0" anchor="ctr"/>
          <a:lstStyle/>
          <a:p>
            <a:r>
              <a:rPr lang="en-US" sz="1733" b="1" dirty="0">
                <a:solidFill>
                  <a:srgbClr val="1E293B"/>
                </a:solidFill>
                <a:latin typeface="Times New Roman" pitchFamily="34" charset="0"/>
                <a:ea typeface="Times New Roman" pitchFamily="34" charset="-122"/>
                <a:cs typeface="Times New Roman" pitchFamily="34" charset="-120"/>
              </a:rPr>
              <a:t>Authentication Limitations:
</a:t>
            </a:r>
            <a:r>
              <a:rPr lang="en-US" sz="1733" dirty="0">
                <a:solidFill>
                  <a:srgbClr val="1E293B"/>
                </a:solidFill>
                <a:latin typeface="Times New Roman" pitchFamily="34" charset="0"/>
                <a:ea typeface="Times New Roman" pitchFamily="34" charset="-122"/>
                <a:cs typeface="Times New Roman" pitchFamily="34" charset="-120"/>
              </a:rPr>
              <a:t>○  Passwords stored without hashing in SQLite.
○  No OTP or forgot password feature implemented.</a:t>
            </a:r>
            <a:endParaRPr lang="en-US" sz="1733" dirty="0"/>
          </a:p>
        </p:txBody>
      </p:sp>
      <p:sp>
        <p:nvSpPr>
          <p:cNvPr id="13" name="Shape 11"/>
          <p:cNvSpPr/>
          <p:nvPr/>
        </p:nvSpPr>
        <p:spPr>
          <a:xfrm>
            <a:off x="426720" y="3864864"/>
            <a:ext cx="11338560" cy="1219200"/>
          </a:xfrm>
          <a:prstGeom prst="rect">
            <a:avLst/>
          </a:prstGeom>
          <a:solidFill>
            <a:srgbClr val="F4F7FB"/>
          </a:solidFill>
          <a:ln w="6350">
            <a:solidFill>
              <a:srgbClr val="E2E8F0"/>
            </a:solidFill>
            <a:prstDash val="solid"/>
          </a:ln>
        </p:spPr>
      </p:sp>
      <p:sp>
        <p:nvSpPr>
          <p:cNvPr id="14" name="Shape 12"/>
          <p:cNvSpPr/>
          <p:nvPr/>
        </p:nvSpPr>
        <p:spPr>
          <a:xfrm>
            <a:off x="426720" y="3864864"/>
            <a:ext cx="463296" cy="1219200"/>
          </a:xfrm>
          <a:prstGeom prst="rect">
            <a:avLst/>
          </a:prstGeom>
          <a:solidFill>
            <a:srgbClr val="0D9488"/>
          </a:solidFill>
          <a:ln w="12700">
            <a:solidFill>
              <a:srgbClr val="0D9488"/>
            </a:solidFill>
            <a:prstDash val="solid"/>
          </a:ln>
        </p:spPr>
      </p:sp>
      <p:sp>
        <p:nvSpPr>
          <p:cNvPr id="15" name="Text 13"/>
          <p:cNvSpPr/>
          <p:nvPr/>
        </p:nvSpPr>
        <p:spPr>
          <a:xfrm>
            <a:off x="426720" y="3864864"/>
            <a:ext cx="463296" cy="1219200"/>
          </a:xfrm>
          <a:prstGeom prst="rect">
            <a:avLst/>
          </a:prstGeom>
          <a:noFill/>
          <a:ln/>
        </p:spPr>
        <p:txBody>
          <a:bodyPr wrap="square" lIns="0" tIns="0" rIns="0" bIns="0" rtlCol="0" anchor="ctr"/>
          <a:lstStyle/>
          <a:p>
            <a:pPr algn="ctr"/>
            <a:r>
              <a:rPr lang="en-US" sz="1867" b="1" dirty="0">
                <a:solidFill>
                  <a:srgbClr val="FFFFFF"/>
                </a:solidFill>
                <a:latin typeface="Times New Roman" pitchFamily="34" charset="0"/>
                <a:ea typeface="Times New Roman" pitchFamily="34" charset="-122"/>
                <a:cs typeface="Times New Roman" pitchFamily="34" charset="-120"/>
              </a:rPr>
              <a:t>3.</a:t>
            </a:r>
            <a:endParaRPr lang="en-US" sz="1867" dirty="0"/>
          </a:p>
        </p:txBody>
      </p:sp>
      <p:sp>
        <p:nvSpPr>
          <p:cNvPr id="16" name="Text 14"/>
          <p:cNvSpPr/>
          <p:nvPr/>
        </p:nvSpPr>
        <p:spPr>
          <a:xfrm>
            <a:off x="999744" y="3925824"/>
            <a:ext cx="10607040" cy="1097280"/>
          </a:xfrm>
          <a:prstGeom prst="rect">
            <a:avLst/>
          </a:prstGeom>
          <a:noFill/>
          <a:ln/>
        </p:spPr>
        <p:txBody>
          <a:bodyPr wrap="square" rtlCol="0" anchor="ctr"/>
          <a:lstStyle/>
          <a:p>
            <a:r>
              <a:rPr lang="en-US" sz="1733" b="1" dirty="0">
                <a:solidFill>
                  <a:srgbClr val="1E293B"/>
                </a:solidFill>
                <a:latin typeface="Times New Roman" pitchFamily="34" charset="0"/>
                <a:ea typeface="Times New Roman" pitchFamily="34" charset="-122"/>
                <a:cs typeface="Times New Roman" pitchFamily="34" charset="-120"/>
              </a:rPr>
              <a:t>Infrastructure Limitations:
</a:t>
            </a:r>
            <a:r>
              <a:rPr lang="en-US" sz="1733" dirty="0">
                <a:solidFill>
                  <a:srgbClr val="1E293B"/>
                </a:solidFill>
                <a:latin typeface="Times New Roman" pitchFamily="34" charset="0"/>
                <a:ea typeface="Times New Roman" pitchFamily="34" charset="-122"/>
                <a:cs typeface="Times New Roman" pitchFamily="34" charset="-120"/>
              </a:rPr>
              <a:t>○  Render free tier sleeps after 15 mins of inactivity.
○  MongoDB free tier limited to 512MB storage.</a:t>
            </a:r>
            <a:endParaRPr lang="en-US" sz="1733" dirty="0"/>
          </a:p>
        </p:txBody>
      </p:sp>
      <p:sp>
        <p:nvSpPr>
          <p:cNvPr id="17" name="Shape 15"/>
          <p:cNvSpPr/>
          <p:nvPr/>
        </p:nvSpPr>
        <p:spPr>
          <a:xfrm>
            <a:off x="426720" y="5157216"/>
            <a:ext cx="11338560" cy="914400"/>
          </a:xfrm>
          <a:prstGeom prst="rect">
            <a:avLst/>
          </a:prstGeom>
          <a:solidFill>
            <a:srgbClr val="F4F7FB"/>
          </a:solidFill>
          <a:ln w="6350">
            <a:solidFill>
              <a:srgbClr val="E2E8F0"/>
            </a:solidFill>
            <a:prstDash val="solid"/>
          </a:ln>
        </p:spPr>
      </p:sp>
      <p:sp>
        <p:nvSpPr>
          <p:cNvPr id="18" name="Shape 16"/>
          <p:cNvSpPr/>
          <p:nvPr/>
        </p:nvSpPr>
        <p:spPr>
          <a:xfrm>
            <a:off x="426720" y="5157216"/>
            <a:ext cx="463296" cy="914400"/>
          </a:xfrm>
          <a:prstGeom prst="rect">
            <a:avLst/>
          </a:prstGeom>
          <a:solidFill>
            <a:srgbClr val="0D9488"/>
          </a:solidFill>
          <a:ln w="12700">
            <a:solidFill>
              <a:srgbClr val="0D9488"/>
            </a:solidFill>
            <a:prstDash val="solid"/>
          </a:ln>
        </p:spPr>
      </p:sp>
      <p:sp>
        <p:nvSpPr>
          <p:cNvPr id="19" name="Text 17"/>
          <p:cNvSpPr/>
          <p:nvPr/>
        </p:nvSpPr>
        <p:spPr>
          <a:xfrm>
            <a:off x="426720" y="5157216"/>
            <a:ext cx="463296" cy="914400"/>
          </a:xfrm>
          <a:prstGeom prst="rect">
            <a:avLst/>
          </a:prstGeom>
          <a:noFill/>
          <a:ln/>
        </p:spPr>
        <p:txBody>
          <a:bodyPr wrap="square" lIns="0" tIns="0" rIns="0" bIns="0" rtlCol="0" anchor="ctr"/>
          <a:lstStyle/>
          <a:p>
            <a:pPr algn="ctr"/>
            <a:r>
              <a:rPr lang="en-US" sz="1867" b="1" dirty="0">
                <a:solidFill>
                  <a:srgbClr val="FFFFFF"/>
                </a:solidFill>
                <a:latin typeface="Times New Roman" pitchFamily="34" charset="0"/>
                <a:ea typeface="Times New Roman" pitchFamily="34" charset="-122"/>
                <a:cs typeface="Times New Roman" pitchFamily="34" charset="-120"/>
              </a:rPr>
              <a:t>4.</a:t>
            </a:r>
            <a:endParaRPr lang="en-US" sz="1867" dirty="0"/>
          </a:p>
        </p:txBody>
      </p:sp>
      <p:sp>
        <p:nvSpPr>
          <p:cNvPr id="20" name="Text 18"/>
          <p:cNvSpPr/>
          <p:nvPr/>
        </p:nvSpPr>
        <p:spPr>
          <a:xfrm>
            <a:off x="999744" y="5218176"/>
            <a:ext cx="10607040" cy="792480"/>
          </a:xfrm>
          <a:prstGeom prst="rect">
            <a:avLst/>
          </a:prstGeom>
          <a:noFill/>
          <a:ln/>
        </p:spPr>
        <p:txBody>
          <a:bodyPr wrap="square" rtlCol="0" anchor="ctr"/>
          <a:lstStyle/>
          <a:p>
            <a:r>
              <a:rPr lang="en-US" sz="1733" b="1" dirty="0">
                <a:solidFill>
                  <a:srgbClr val="1E293B"/>
                </a:solidFill>
                <a:latin typeface="Times New Roman" pitchFamily="34" charset="0"/>
                <a:ea typeface="Times New Roman" pitchFamily="34" charset="-122"/>
                <a:cs typeface="Times New Roman" pitchFamily="34" charset="-120"/>
              </a:rPr>
              <a:t>Payment:
</a:t>
            </a:r>
            <a:r>
              <a:rPr lang="en-US" sz="1733" dirty="0">
                <a:solidFill>
                  <a:srgbClr val="1E293B"/>
                </a:solidFill>
                <a:latin typeface="Times New Roman" pitchFamily="34" charset="0"/>
                <a:ea typeface="Times New Roman" pitchFamily="34" charset="-122"/>
                <a:cs typeface="Times New Roman" pitchFamily="34" charset="-120"/>
              </a:rPr>
              <a:t>○  No payment gateway — booking is request-based only.</a:t>
            </a:r>
            <a:endParaRPr lang="en-US" sz="17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1A3A5C"/>
          </a:solidFill>
          <a:ln w="12700">
            <a:solidFill>
              <a:srgbClr val="1A3A5C"/>
            </a:solidFill>
            <a:prstDash val="solid"/>
          </a:ln>
        </p:spPr>
      </p:sp>
      <p:sp>
        <p:nvSpPr>
          <p:cNvPr id="3" name="Text 1"/>
          <p:cNvSpPr/>
          <p:nvPr/>
        </p:nvSpPr>
        <p:spPr>
          <a:xfrm>
            <a:off x="426720" y="268224"/>
            <a:ext cx="11338560" cy="792480"/>
          </a:xfrm>
          <a:prstGeom prst="rect">
            <a:avLst/>
          </a:prstGeom>
          <a:noFill/>
          <a:ln/>
        </p:spPr>
        <p:txBody>
          <a:bodyPr wrap="square" rtlCol="0" anchor="ctr"/>
          <a:lstStyle/>
          <a:p>
            <a:r>
              <a:rPr lang="en-US" sz="4267" b="1" dirty="0">
                <a:solidFill>
                  <a:srgbClr val="1A3A5C"/>
                </a:solidFill>
                <a:latin typeface="Times New Roman" pitchFamily="34" charset="0"/>
                <a:ea typeface="Times New Roman" pitchFamily="34" charset="-122"/>
                <a:cs typeface="Times New Roman" pitchFamily="34" charset="-120"/>
              </a:rPr>
              <a:t>Future Scope or Future Enhancements</a:t>
            </a:r>
            <a:endParaRPr lang="en-US" sz="4267" dirty="0"/>
          </a:p>
        </p:txBody>
      </p:sp>
      <p:sp>
        <p:nvSpPr>
          <p:cNvPr id="4" name="Shape 2"/>
          <p:cNvSpPr/>
          <p:nvPr/>
        </p:nvSpPr>
        <p:spPr>
          <a:xfrm>
            <a:off x="426720" y="1158240"/>
            <a:ext cx="11338560" cy="36576"/>
          </a:xfrm>
          <a:prstGeom prst="rect">
            <a:avLst/>
          </a:prstGeom>
          <a:solidFill>
            <a:srgbClr val="1A3A5C"/>
          </a:solidFill>
          <a:ln w="12700">
            <a:solidFill>
              <a:srgbClr val="1A3A5C"/>
            </a:solidFill>
            <a:prstDash val="solid"/>
          </a:ln>
        </p:spPr>
      </p:sp>
      <p:sp>
        <p:nvSpPr>
          <p:cNvPr id="5" name="Shape 3"/>
          <p:cNvSpPr/>
          <p:nvPr/>
        </p:nvSpPr>
        <p:spPr>
          <a:xfrm>
            <a:off x="426720" y="1341120"/>
            <a:ext cx="11338560" cy="1121664"/>
          </a:xfrm>
          <a:prstGeom prst="rect">
            <a:avLst/>
          </a:prstGeom>
          <a:solidFill>
            <a:srgbClr val="F4F7FB"/>
          </a:solidFill>
          <a:ln w="6350">
            <a:solidFill>
              <a:srgbClr val="E2E8F0"/>
            </a:solidFill>
            <a:prstDash val="solid"/>
          </a:ln>
        </p:spPr>
      </p:sp>
      <p:sp>
        <p:nvSpPr>
          <p:cNvPr id="6" name="Shape 4"/>
          <p:cNvSpPr/>
          <p:nvPr/>
        </p:nvSpPr>
        <p:spPr>
          <a:xfrm>
            <a:off x="426720" y="1341120"/>
            <a:ext cx="463296" cy="1121664"/>
          </a:xfrm>
          <a:prstGeom prst="rect">
            <a:avLst/>
          </a:prstGeom>
          <a:solidFill>
            <a:srgbClr val="0D9488"/>
          </a:solidFill>
          <a:ln w="12700">
            <a:solidFill>
              <a:srgbClr val="0D9488"/>
            </a:solidFill>
            <a:prstDash val="solid"/>
          </a:ln>
        </p:spPr>
      </p:sp>
      <p:sp>
        <p:nvSpPr>
          <p:cNvPr id="7" name="Text 5"/>
          <p:cNvSpPr/>
          <p:nvPr/>
        </p:nvSpPr>
        <p:spPr>
          <a:xfrm>
            <a:off x="426720" y="1341120"/>
            <a:ext cx="463296" cy="1121664"/>
          </a:xfrm>
          <a:prstGeom prst="rect">
            <a:avLst/>
          </a:prstGeom>
          <a:noFill/>
          <a:ln/>
        </p:spPr>
        <p:txBody>
          <a:bodyPr wrap="square" lIns="0" tIns="0" rIns="0" bIns="0" rtlCol="0" anchor="ctr"/>
          <a:lstStyle/>
          <a:p>
            <a:pPr algn="ct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8" name="Text 6"/>
          <p:cNvSpPr/>
          <p:nvPr/>
        </p:nvSpPr>
        <p:spPr>
          <a:xfrm>
            <a:off x="999744" y="1402080"/>
            <a:ext cx="10607040" cy="999744"/>
          </a:xfrm>
          <a:prstGeom prst="rect">
            <a:avLst/>
          </a:prstGeom>
          <a:noFill/>
          <a:ln/>
        </p:spPr>
        <p:txBody>
          <a:bodyPr wrap="square" rtlCol="0" anchor="ctr"/>
          <a:lstStyle/>
          <a:p>
            <a:r>
              <a:rPr lang="en-US" sz="1800" b="1" dirty="0">
                <a:solidFill>
                  <a:srgbClr val="1E293B"/>
                </a:solidFill>
                <a:latin typeface="Times New Roman" pitchFamily="34" charset="0"/>
                <a:ea typeface="Times New Roman" pitchFamily="34" charset="-122"/>
                <a:cs typeface="Times New Roman" pitchFamily="34" charset="-120"/>
              </a:rPr>
              <a:t>Real-Time Price Updates:</a:t>
            </a:r>
            <a:r>
              <a:rPr lang="en-US" sz="1800" dirty="0">
                <a:solidFill>
                  <a:srgbClr val="1E293B"/>
                </a:solidFill>
                <a:latin typeface="Times New Roman" pitchFamily="34" charset="0"/>
                <a:ea typeface="Times New Roman" pitchFamily="34" charset="-122"/>
                <a:cs typeface="Times New Roman" pitchFamily="34" charset="-120"/>
              </a:rPr>
              <a:t>  Integrating web scraping or lab APIs to automatically fetch and update diagnostic test prices in real-time.</a:t>
            </a:r>
            <a:endParaRPr lang="en-US" sz="1800" dirty="0"/>
          </a:p>
        </p:txBody>
      </p:sp>
      <p:sp>
        <p:nvSpPr>
          <p:cNvPr id="9" name="Shape 7"/>
          <p:cNvSpPr/>
          <p:nvPr/>
        </p:nvSpPr>
        <p:spPr>
          <a:xfrm>
            <a:off x="426720" y="2535936"/>
            <a:ext cx="11338560" cy="1121664"/>
          </a:xfrm>
          <a:prstGeom prst="rect">
            <a:avLst/>
          </a:prstGeom>
          <a:solidFill>
            <a:srgbClr val="F4F7FB"/>
          </a:solidFill>
          <a:ln w="6350">
            <a:solidFill>
              <a:srgbClr val="E2E8F0"/>
            </a:solidFill>
            <a:prstDash val="solid"/>
          </a:ln>
        </p:spPr>
      </p:sp>
      <p:sp>
        <p:nvSpPr>
          <p:cNvPr id="10" name="Shape 8"/>
          <p:cNvSpPr/>
          <p:nvPr/>
        </p:nvSpPr>
        <p:spPr>
          <a:xfrm>
            <a:off x="426720" y="2535936"/>
            <a:ext cx="463296" cy="1121664"/>
          </a:xfrm>
          <a:prstGeom prst="rect">
            <a:avLst/>
          </a:prstGeom>
          <a:solidFill>
            <a:srgbClr val="0D9488"/>
          </a:solidFill>
          <a:ln w="12700">
            <a:solidFill>
              <a:srgbClr val="0D9488"/>
            </a:solidFill>
            <a:prstDash val="solid"/>
          </a:ln>
        </p:spPr>
      </p:sp>
      <p:sp>
        <p:nvSpPr>
          <p:cNvPr id="11" name="Text 9"/>
          <p:cNvSpPr/>
          <p:nvPr/>
        </p:nvSpPr>
        <p:spPr>
          <a:xfrm>
            <a:off x="426720" y="2535936"/>
            <a:ext cx="463296" cy="1121664"/>
          </a:xfrm>
          <a:prstGeom prst="rect">
            <a:avLst/>
          </a:prstGeom>
          <a:noFill/>
          <a:ln/>
        </p:spPr>
        <p:txBody>
          <a:bodyPr wrap="square" lIns="0" tIns="0" rIns="0" bIns="0" rtlCol="0" anchor="ctr"/>
          <a:lstStyle/>
          <a:p>
            <a:pPr algn="ct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2" name="Text 10"/>
          <p:cNvSpPr/>
          <p:nvPr/>
        </p:nvSpPr>
        <p:spPr>
          <a:xfrm>
            <a:off x="999744" y="2596896"/>
            <a:ext cx="10607040" cy="999744"/>
          </a:xfrm>
          <a:prstGeom prst="rect">
            <a:avLst/>
          </a:prstGeom>
          <a:noFill/>
          <a:ln/>
        </p:spPr>
        <p:txBody>
          <a:bodyPr wrap="square" rtlCol="0" anchor="ctr"/>
          <a:lstStyle/>
          <a:p>
            <a:r>
              <a:rPr lang="en-US" sz="1800" b="1" dirty="0">
                <a:solidFill>
                  <a:srgbClr val="1E293B"/>
                </a:solidFill>
                <a:latin typeface="Times New Roman" pitchFamily="34" charset="0"/>
                <a:ea typeface="Times New Roman" pitchFamily="34" charset="-122"/>
                <a:cs typeface="Times New Roman" pitchFamily="34" charset="-120"/>
              </a:rPr>
              <a:t>Advanced Authentication Methods:</a:t>
            </a:r>
            <a:r>
              <a:rPr lang="en-US" sz="1800" dirty="0">
                <a:solidFill>
                  <a:srgbClr val="1E293B"/>
                </a:solidFill>
                <a:latin typeface="Times New Roman" pitchFamily="34" charset="0"/>
                <a:ea typeface="Times New Roman" pitchFamily="34" charset="-122"/>
                <a:cs typeface="Times New Roman" pitchFamily="34" charset="-120"/>
              </a:rPr>
              <a:t>  Implementing more secure methods like OTP verification, biometric login, and forgot password functionality for enhanced security.</a:t>
            </a:r>
            <a:endParaRPr lang="en-US" sz="1800" dirty="0"/>
          </a:p>
        </p:txBody>
      </p:sp>
      <p:sp>
        <p:nvSpPr>
          <p:cNvPr id="13" name="Shape 11"/>
          <p:cNvSpPr/>
          <p:nvPr/>
        </p:nvSpPr>
        <p:spPr>
          <a:xfrm>
            <a:off x="426720" y="3730752"/>
            <a:ext cx="11338560" cy="1121664"/>
          </a:xfrm>
          <a:prstGeom prst="rect">
            <a:avLst/>
          </a:prstGeom>
          <a:solidFill>
            <a:srgbClr val="F4F7FB"/>
          </a:solidFill>
          <a:ln w="6350">
            <a:solidFill>
              <a:srgbClr val="E2E8F0"/>
            </a:solidFill>
            <a:prstDash val="solid"/>
          </a:ln>
        </p:spPr>
      </p:sp>
      <p:sp>
        <p:nvSpPr>
          <p:cNvPr id="14" name="Shape 12"/>
          <p:cNvSpPr/>
          <p:nvPr/>
        </p:nvSpPr>
        <p:spPr>
          <a:xfrm>
            <a:off x="426720" y="3730752"/>
            <a:ext cx="463296" cy="1121664"/>
          </a:xfrm>
          <a:prstGeom prst="rect">
            <a:avLst/>
          </a:prstGeom>
          <a:solidFill>
            <a:srgbClr val="0D9488"/>
          </a:solidFill>
          <a:ln w="12700">
            <a:solidFill>
              <a:srgbClr val="0D9488"/>
            </a:solidFill>
            <a:prstDash val="solid"/>
          </a:ln>
        </p:spPr>
      </p:sp>
      <p:sp>
        <p:nvSpPr>
          <p:cNvPr id="15" name="Text 13"/>
          <p:cNvSpPr/>
          <p:nvPr/>
        </p:nvSpPr>
        <p:spPr>
          <a:xfrm>
            <a:off x="426720" y="3730752"/>
            <a:ext cx="463296" cy="1121664"/>
          </a:xfrm>
          <a:prstGeom prst="rect">
            <a:avLst/>
          </a:prstGeom>
          <a:noFill/>
          <a:ln/>
        </p:spPr>
        <p:txBody>
          <a:bodyPr wrap="square" lIns="0" tIns="0" rIns="0" bIns="0" rtlCol="0" anchor="ctr"/>
          <a:lstStyle/>
          <a:p>
            <a:pPr algn="ct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6" name="Text 14"/>
          <p:cNvSpPr/>
          <p:nvPr/>
        </p:nvSpPr>
        <p:spPr>
          <a:xfrm>
            <a:off x="999744" y="3791712"/>
            <a:ext cx="10607040" cy="999744"/>
          </a:xfrm>
          <a:prstGeom prst="rect">
            <a:avLst/>
          </a:prstGeom>
          <a:noFill/>
          <a:ln/>
        </p:spPr>
        <p:txBody>
          <a:bodyPr wrap="square" rtlCol="0" anchor="ctr"/>
          <a:lstStyle/>
          <a:p>
            <a:r>
              <a:rPr lang="en-US" sz="1800" b="1" dirty="0">
                <a:solidFill>
                  <a:srgbClr val="1E293B"/>
                </a:solidFill>
                <a:latin typeface="Times New Roman" pitchFamily="34" charset="0"/>
                <a:ea typeface="Times New Roman" pitchFamily="34" charset="-122"/>
                <a:cs typeface="Times New Roman" pitchFamily="34" charset="-120"/>
              </a:rPr>
              <a:t>Payment Gateway Integration:</a:t>
            </a:r>
            <a:r>
              <a:rPr lang="en-US" sz="1800" dirty="0">
                <a:solidFill>
                  <a:srgbClr val="1E293B"/>
                </a:solidFill>
                <a:latin typeface="Times New Roman" pitchFamily="34" charset="0"/>
                <a:ea typeface="Times New Roman" pitchFamily="34" charset="-122"/>
                <a:cs typeface="Times New Roman" pitchFamily="34" charset="-120"/>
              </a:rPr>
              <a:t>  Incorporating online payment options like Razorpay or UPI to allow users to pay for tests directly through the platform.</a:t>
            </a:r>
            <a:endParaRPr lang="en-US" sz="1800" dirty="0"/>
          </a:p>
        </p:txBody>
      </p:sp>
      <p:sp>
        <p:nvSpPr>
          <p:cNvPr id="17" name="Shape 15"/>
          <p:cNvSpPr/>
          <p:nvPr/>
        </p:nvSpPr>
        <p:spPr>
          <a:xfrm>
            <a:off x="426720" y="4925568"/>
            <a:ext cx="11338560" cy="1121664"/>
          </a:xfrm>
          <a:prstGeom prst="rect">
            <a:avLst/>
          </a:prstGeom>
          <a:solidFill>
            <a:srgbClr val="F4F7FB"/>
          </a:solidFill>
          <a:ln w="6350">
            <a:solidFill>
              <a:srgbClr val="E2E8F0"/>
            </a:solidFill>
            <a:prstDash val="solid"/>
          </a:ln>
        </p:spPr>
      </p:sp>
      <p:sp>
        <p:nvSpPr>
          <p:cNvPr id="18" name="Shape 16"/>
          <p:cNvSpPr/>
          <p:nvPr/>
        </p:nvSpPr>
        <p:spPr>
          <a:xfrm>
            <a:off x="426720" y="4925568"/>
            <a:ext cx="463296" cy="1121664"/>
          </a:xfrm>
          <a:prstGeom prst="rect">
            <a:avLst/>
          </a:prstGeom>
          <a:solidFill>
            <a:srgbClr val="0D9488"/>
          </a:solidFill>
          <a:ln w="12700">
            <a:solidFill>
              <a:srgbClr val="0D9488"/>
            </a:solidFill>
            <a:prstDash val="solid"/>
          </a:ln>
        </p:spPr>
      </p:sp>
      <p:sp>
        <p:nvSpPr>
          <p:cNvPr id="19" name="Text 17"/>
          <p:cNvSpPr/>
          <p:nvPr/>
        </p:nvSpPr>
        <p:spPr>
          <a:xfrm>
            <a:off x="426720" y="4925568"/>
            <a:ext cx="463296" cy="1121664"/>
          </a:xfrm>
          <a:prstGeom prst="rect">
            <a:avLst/>
          </a:prstGeom>
          <a:noFill/>
          <a:ln/>
        </p:spPr>
        <p:txBody>
          <a:bodyPr wrap="square" lIns="0" tIns="0" rIns="0" bIns="0" rtlCol="0" anchor="ctr"/>
          <a:lstStyle/>
          <a:p>
            <a:pPr algn="ct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20" name="Text 18"/>
          <p:cNvSpPr/>
          <p:nvPr/>
        </p:nvSpPr>
        <p:spPr>
          <a:xfrm>
            <a:off x="999744" y="4986528"/>
            <a:ext cx="10607040" cy="999744"/>
          </a:xfrm>
          <a:prstGeom prst="rect">
            <a:avLst/>
          </a:prstGeom>
          <a:noFill/>
          <a:ln/>
        </p:spPr>
        <p:txBody>
          <a:bodyPr wrap="square" rtlCol="0" anchor="ctr"/>
          <a:lstStyle/>
          <a:p>
            <a:r>
              <a:rPr lang="en-US" sz="1800" b="1" dirty="0">
                <a:solidFill>
                  <a:srgbClr val="1E293B"/>
                </a:solidFill>
                <a:latin typeface="Times New Roman" pitchFamily="34" charset="0"/>
                <a:ea typeface="Times New Roman" pitchFamily="34" charset="-122"/>
                <a:cs typeface="Times New Roman" pitchFamily="34" charset="-120"/>
              </a:rPr>
              <a:t>AI and Machine Learning Integration:</a:t>
            </a:r>
            <a:r>
              <a:rPr lang="en-US" sz="1800" dirty="0">
                <a:solidFill>
                  <a:srgbClr val="1E293B"/>
                </a:solidFill>
                <a:latin typeface="Times New Roman" pitchFamily="34" charset="0"/>
                <a:ea typeface="Times New Roman" pitchFamily="34" charset="-122"/>
                <a:cs typeface="Times New Roman" pitchFamily="34" charset="-120"/>
              </a:rPr>
              <a:t>  Incorporating AI to recommend tests based on user symptoms and predict the most cost-effective lab based on location and history.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1A3A5C"/>
          </a:solidFill>
          <a:ln w="12700">
            <a:solidFill>
              <a:srgbClr val="1A3A5C"/>
            </a:solidFill>
            <a:prstDash val="solid"/>
          </a:ln>
        </p:spPr>
      </p:sp>
      <p:sp>
        <p:nvSpPr>
          <p:cNvPr id="3" name="Text 1"/>
          <p:cNvSpPr/>
          <p:nvPr/>
        </p:nvSpPr>
        <p:spPr>
          <a:xfrm>
            <a:off x="426720" y="268224"/>
            <a:ext cx="11338560" cy="792480"/>
          </a:xfrm>
          <a:prstGeom prst="rect">
            <a:avLst/>
          </a:prstGeom>
          <a:noFill/>
          <a:ln/>
        </p:spPr>
        <p:txBody>
          <a:bodyPr wrap="square" rtlCol="0" anchor="ctr"/>
          <a:lstStyle/>
          <a:p>
            <a:r>
              <a:rPr lang="en-US" sz="4267" b="1" dirty="0">
                <a:solidFill>
                  <a:srgbClr val="1A3A5C"/>
                </a:solidFill>
                <a:latin typeface="Times New Roman" pitchFamily="34" charset="0"/>
                <a:ea typeface="Times New Roman" pitchFamily="34" charset="-122"/>
                <a:cs typeface="Times New Roman" pitchFamily="34" charset="-120"/>
              </a:rPr>
              <a:t>Conclusion</a:t>
            </a:r>
            <a:endParaRPr lang="en-US" sz="4267" dirty="0"/>
          </a:p>
        </p:txBody>
      </p:sp>
      <p:sp>
        <p:nvSpPr>
          <p:cNvPr id="4" name="Shape 2"/>
          <p:cNvSpPr/>
          <p:nvPr/>
        </p:nvSpPr>
        <p:spPr>
          <a:xfrm>
            <a:off x="426720" y="1158240"/>
            <a:ext cx="11338560" cy="36576"/>
          </a:xfrm>
          <a:prstGeom prst="rect">
            <a:avLst/>
          </a:prstGeom>
          <a:solidFill>
            <a:srgbClr val="1A3A5C"/>
          </a:solidFill>
          <a:ln w="12700">
            <a:solidFill>
              <a:srgbClr val="1A3A5C"/>
            </a:solidFill>
            <a:prstDash val="solid"/>
          </a:ln>
        </p:spPr>
      </p:sp>
      <p:sp>
        <p:nvSpPr>
          <p:cNvPr id="5" name="Shape 3"/>
          <p:cNvSpPr/>
          <p:nvPr/>
        </p:nvSpPr>
        <p:spPr>
          <a:xfrm>
            <a:off x="426720" y="1341120"/>
            <a:ext cx="11338560" cy="1072896"/>
          </a:xfrm>
          <a:prstGeom prst="rect">
            <a:avLst/>
          </a:prstGeom>
          <a:solidFill>
            <a:srgbClr val="F4F7FB"/>
          </a:solidFill>
          <a:ln w="6350">
            <a:solidFill>
              <a:srgbClr val="E2E8F0"/>
            </a:solidFill>
            <a:prstDash val="solid"/>
          </a:ln>
        </p:spPr>
      </p:sp>
      <p:sp>
        <p:nvSpPr>
          <p:cNvPr id="6" name="Shape 4"/>
          <p:cNvSpPr/>
          <p:nvPr/>
        </p:nvSpPr>
        <p:spPr>
          <a:xfrm>
            <a:off x="585216" y="1755648"/>
            <a:ext cx="243840" cy="243840"/>
          </a:xfrm>
          <a:prstGeom prst="ellipse">
            <a:avLst/>
          </a:prstGeom>
          <a:solidFill>
            <a:srgbClr val="0D9488"/>
          </a:solidFill>
          <a:ln w="12700">
            <a:solidFill>
              <a:srgbClr val="0D9488"/>
            </a:solidFill>
            <a:prstDash val="solid"/>
          </a:ln>
        </p:spPr>
      </p:sp>
      <p:sp>
        <p:nvSpPr>
          <p:cNvPr id="7" name="Text 5"/>
          <p:cNvSpPr/>
          <p:nvPr/>
        </p:nvSpPr>
        <p:spPr>
          <a:xfrm>
            <a:off x="999744" y="1402080"/>
            <a:ext cx="10607040" cy="950976"/>
          </a:xfrm>
          <a:prstGeom prst="rect">
            <a:avLst/>
          </a:prstGeom>
          <a:noFill/>
          <a:ln/>
        </p:spPr>
        <p:txBody>
          <a:bodyPr wrap="square" rtlCol="0" anchor="ctr"/>
          <a:lstStyle/>
          <a:p>
            <a:r>
              <a:rPr lang="en-US" sz="1800" dirty="0">
                <a:solidFill>
                  <a:srgbClr val="1E293B"/>
                </a:solidFill>
                <a:latin typeface="Times New Roman" pitchFamily="34" charset="0"/>
                <a:ea typeface="Times New Roman" pitchFamily="34" charset="-122"/>
                <a:cs typeface="Times New Roman" pitchFamily="34" charset="-120"/>
              </a:rPr>
              <a:t>The Healthcare Test Price Transparency Platform is an innovative project combining web development, database management, and real-world healthcare needs.</a:t>
            </a:r>
            <a:endParaRPr lang="en-US" sz="1800" dirty="0"/>
          </a:p>
        </p:txBody>
      </p:sp>
      <p:sp>
        <p:nvSpPr>
          <p:cNvPr id="8" name="Shape 6"/>
          <p:cNvSpPr/>
          <p:nvPr/>
        </p:nvSpPr>
        <p:spPr>
          <a:xfrm>
            <a:off x="426720" y="2535936"/>
            <a:ext cx="11338560" cy="1072896"/>
          </a:xfrm>
          <a:prstGeom prst="rect">
            <a:avLst/>
          </a:prstGeom>
          <a:solidFill>
            <a:srgbClr val="F4F7FB"/>
          </a:solidFill>
          <a:ln w="6350">
            <a:solidFill>
              <a:srgbClr val="E2E8F0"/>
            </a:solidFill>
            <a:prstDash val="solid"/>
          </a:ln>
        </p:spPr>
      </p:sp>
      <p:sp>
        <p:nvSpPr>
          <p:cNvPr id="9" name="Shape 7"/>
          <p:cNvSpPr/>
          <p:nvPr/>
        </p:nvSpPr>
        <p:spPr>
          <a:xfrm>
            <a:off x="585216" y="2950464"/>
            <a:ext cx="243840" cy="243840"/>
          </a:xfrm>
          <a:prstGeom prst="ellipse">
            <a:avLst/>
          </a:prstGeom>
          <a:solidFill>
            <a:srgbClr val="0D9488"/>
          </a:solidFill>
          <a:ln w="12700">
            <a:solidFill>
              <a:srgbClr val="0D9488"/>
            </a:solidFill>
            <a:prstDash val="solid"/>
          </a:ln>
        </p:spPr>
      </p:sp>
      <p:sp>
        <p:nvSpPr>
          <p:cNvPr id="10" name="Text 8"/>
          <p:cNvSpPr/>
          <p:nvPr/>
        </p:nvSpPr>
        <p:spPr>
          <a:xfrm>
            <a:off x="999744" y="2596896"/>
            <a:ext cx="10607040" cy="950976"/>
          </a:xfrm>
          <a:prstGeom prst="rect">
            <a:avLst/>
          </a:prstGeom>
          <a:noFill/>
          <a:ln/>
        </p:spPr>
        <p:txBody>
          <a:bodyPr wrap="square" rtlCol="0" anchor="ctr"/>
          <a:lstStyle/>
          <a:p>
            <a:r>
              <a:rPr lang="en-US" sz="1800" dirty="0">
                <a:solidFill>
                  <a:srgbClr val="1E293B"/>
                </a:solidFill>
                <a:latin typeface="Times New Roman" pitchFamily="34" charset="0"/>
                <a:ea typeface="Times New Roman" pitchFamily="34" charset="-122"/>
                <a:cs typeface="Times New Roman" pitchFamily="34" charset="-120"/>
              </a:rPr>
              <a:t>It demonstrates the use of fuzzy search for test matching and integrates user authentication to control access and personalize the experience.</a:t>
            </a:r>
            <a:endParaRPr lang="en-US" sz="1800" dirty="0"/>
          </a:p>
        </p:txBody>
      </p:sp>
      <p:sp>
        <p:nvSpPr>
          <p:cNvPr id="11" name="Shape 9"/>
          <p:cNvSpPr/>
          <p:nvPr/>
        </p:nvSpPr>
        <p:spPr>
          <a:xfrm>
            <a:off x="426720" y="3730752"/>
            <a:ext cx="11338560" cy="1072896"/>
          </a:xfrm>
          <a:prstGeom prst="rect">
            <a:avLst/>
          </a:prstGeom>
          <a:solidFill>
            <a:srgbClr val="F4F7FB"/>
          </a:solidFill>
          <a:ln w="6350">
            <a:solidFill>
              <a:srgbClr val="E2E8F0"/>
            </a:solidFill>
            <a:prstDash val="solid"/>
          </a:ln>
        </p:spPr>
      </p:sp>
      <p:sp>
        <p:nvSpPr>
          <p:cNvPr id="12" name="Shape 10"/>
          <p:cNvSpPr/>
          <p:nvPr/>
        </p:nvSpPr>
        <p:spPr>
          <a:xfrm>
            <a:off x="585216" y="4145280"/>
            <a:ext cx="243840" cy="243840"/>
          </a:xfrm>
          <a:prstGeom prst="ellipse">
            <a:avLst/>
          </a:prstGeom>
          <a:solidFill>
            <a:srgbClr val="0D9488"/>
          </a:solidFill>
          <a:ln w="12700">
            <a:solidFill>
              <a:srgbClr val="0D9488"/>
            </a:solidFill>
            <a:prstDash val="solid"/>
          </a:ln>
        </p:spPr>
      </p:sp>
      <p:sp>
        <p:nvSpPr>
          <p:cNvPr id="13" name="Text 11"/>
          <p:cNvSpPr/>
          <p:nvPr/>
        </p:nvSpPr>
        <p:spPr>
          <a:xfrm>
            <a:off x="999744" y="3791712"/>
            <a:ext cx="10607040" cy="950976"/>
          </a:xfrm>
          <a:prstGeom prst="rect">
            <a:avLst/>
          </a:prstGeom>
          <a:noFill/>
          <a:ln/>
        </p:spPr>
        <p:txBody>
          <a:bodyPr wrap="square" rtlCol="0" anchor="ctr"/>
          <a:lstStyle/>
          <a:p>
            <a:r>
              <a:rPr lang="en-US" sz="1800" dirty="0">
                <a:solidFill>
                  <a:srgbClr val="1E293B"/>
                </a:solidFill>
                <a:latin typeface="Times New Roman" pitchFamily="34" charset="0"/>
                <a:ea typeface="Times New Roman" pitchFamily="34" charset="-122"/>
                <a:cs typeface="Times New Roman" pitchFamily="34" charset="-120"/>
              </a:rPr>
              <a:t>The project works effectively within certain limitations but offers ample opportunities for improvement and enhancement in future versions.</a:t>
            </a:r>
            <a:endParaRPr lang="en-US" sz="1800" dirty="0"/>
          </a:p>
        </p:txBody>
      </p:sp>
      <p:sp>
        <p:nvSpPr>
          <p:cNvPr id="14" name="Shape 12"/>
          <p:cNvSpPr/>
          <p:nvPr/>
        </p:nvSpPr>
        <p:spPr>
          <a:xfrm>
            <a:off x="426720" y="4925568"/>
            <a:ext cx="11338560" cy="1072896"/>
          </a:xfrm>
          <a:prstGeom prst="rect">
            <a:avLst/>
          </a:prstGeom>
          <a:solidFill>
            <a:srgbClr val="F4F7FB"/>
          </a:solidFill>
          <a:ln w="6350">
            <a:solidFill>
              <a:srgbClr val="E2E8F0"/>
            </a:solidFill>
            <a:prstDash val="solid"/>
          </a:ln>
        </p:spPr>
      </p:sp>
      <p:sp>
        <p:nvSpPr>
          <p:cNvPr id="15" name="Shape 13"/>
          <p:cNvSpPr/>
          <p:nvPr/>
        </p:nvSpPr>
        <p:spPr>
          <a:xfrm>
            <a:off x="585216" y="5340096"/>
            <a:ext cx="243840" cy="243840"/>
          </a:xfrm>
          <a:prstGeom prst="ellipse">
            <a:avLst/>
          </a:prstGeom>
          <a:solidFill>
            <a:srgbClr val="0D9488"/>
          </a:solidFill>
          <a:ln w="12700">
            <a:solidFill>
              <a:srgbClr val="0D9488"/>
            </a:solidFill>
            <a:prstDash val="solid"/>
          </a:ln>
        </p:spPr>
      </p:sp>
      <p:sp>
        <p:nvSpPr>
          <p:cNvPr id="16" name="Text 14"/>
          <p:cNvSpPr/>
          <p:nvPr/>
        </p:nvSpPr>
        <p:spPr>
          <a:xfrm>
            <a:off x="999744" y="4986528"/>
            <a:ext cx="10607040" cy="950976"/>
          </a:xfrm>
          <a:prstGeom prst="rect">
            <a:avLst/>
          </a:prstGeom>
          <a:noFill/>
          <a:ln/>
        </p:spPr>
        <p:txBody>
          <a:bodyPr wrap="square" rtlCol="0" anchor="ctr"/>
          <a:lstStyle/>
          <a:p>
            <a:r>
              <a:rPr lang="en-US" sz="1800" dirty="0">
                <a:solidFill>
                  <a:srgbClr val="1E293B"/>
                </a:solidFill>
                <a:latin typeface="Times New Roman" pitchFamily="34" charset="0"/>
                <a:ea typeface="Times New Roman" pitchFamily="34" charset="-122"/>
                <a:cs typeface="Times New Roman" pitchFamily="34" charset="-120"/>
              </a:rPr>
              <a:t>The integration of more advanced technologies like AI-based recommendations and payment gateways will expand the platform's functionality and usability.</a:t>
            </a:r>
            <a:endParaRPr lang="en-US" sz="1800" dirty="0"/>
          </a:p>
        </p:txBody>
      </p:sp>
    </p:spTree>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687</TotalTime>
  <Words>800</Words>
  <Application>Microsoft Office PowerPoint</Application>
  <PresentationFormat>Widescreen</PresentationFormat>
  <Paragraphs>102</Paragraphs>
  <Slides>10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Times New Roman</vt:lpstr>
      <vt:lpstr>Calibri</vt:lpstr>
      <vt:lpstr>Palatino Linotype</vt:lpstr>
      <vt:lpstr>Arial</vt:lpstr>
      <vt:lpstr>Libre Franklin</vt:lpstr>
      <vt:lpstr>Sitka Heading</vt:lpstr>
      <vt:lpstr>Bookman Old Style</vt:lpstr>
      <vt:lpstr>1_RetrospectVTI</vt:lpstr>
      <vt:lpstr>PowerPoint Presentation</vt:lpstr>
      <vt:lpstr>Testing Definition and Types</vt:lpstr>
      <vt:lpstr>Test Cases</vt:lpstr>
      <vt:lpstr>PowerPoint Presentation</vt:lpstr>
      <vt:lpstr>Output</vt:lpstr>
      <vt:lpstr>Output</vt:lpstr>
      <vt:lpstr>Output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Tejaswini goud</dc:creator>
  <cp:lastModifiedBy>siddharth gaddam</cp:lastModifiedBy>
  <cp:revision>32</cp:revision>
  <dcterms:created xsi:type="dcterms:W3CDTF">2024-07-18T19:18:08Z</dcterms:created>
  <dcterms:modified xsi:type="dcterms:W3CDTF">2026-03-12T01:09:50Z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1033-11.2.0.9363</vt:lpwstr>
  </property>
</Properties>
</file>